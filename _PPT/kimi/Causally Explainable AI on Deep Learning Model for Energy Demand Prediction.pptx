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wardsdatascience.com/4de3806a4e379725b4911739b2f579497ddbae5f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6515" b="1651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24000"/>
            <a:ext cx="2390775" cy="381000"/>
          </a:xfrm>
          <a:custGeom>
            <a:avLst/>
            <a:gdLst/>
            <a:ahLst/>
            <a:cxnLst/>
            <a:rect l="l" t="t" r="r" b="b"/>
            <a:pathLst>
              <a:path w="2390775" h="381000">
                <a:moveTo>
                  <a:pt x="0" y="0"/>
                </a:moveTo>
                <a:lnTo>
                  <a:pt x="2390775" y="0"/>
                </a:lnTo>
                <a:lnTo>
                  <a:pt x="23907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524000"/>
            <a:ext cx="24669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Reproduction Study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60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Causally Explainable AI on Deep Learning Model for Energy Demand Prediction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6576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基于深度学习模型的因果可解释人工智能在能源需求预测中的应用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267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作者：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Gatum Erlangga, Sung-Bae Cho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610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期刊：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Engineering Applications of Artificial Intelligence (2025)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0198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[研究生姓名]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日期：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2026年2月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25942" y="60198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论文方法复现报告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5942" y="62484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Paper-Level Reproduction Study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 | Outline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181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23850" y="11811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121920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5621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研究背景与问题定义 · 论文研究动机 · 核心贡献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600" y="1181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267450" y="11811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10400" y="121920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10400" y="15621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相关工作综述 · 方法对比 · 本文定位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562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3850" y="25622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260032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Method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94322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方法详述 · CNN-LSTM-Attention · 贝叶斯网络 · 深度学习参数解释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24600" y="2562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7450" y="25622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0400" y="260032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0400" y="294322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数据集 · 评价指标 · 实验设置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3943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3850" y="3943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398145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800" y="432435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预测性能 · 可解释性评估 · 因果解释案例 · 计算开销 · 消融实验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4600" y="3943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7450" y="3943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10400" y="398145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Analysis &amp; Discussion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432435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结果分析 · 偏差分析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324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23850" y="53244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6800" y="536257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Issues &amp; Insights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6800" y="570547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复现问题 · 研究思考 · 改进方向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4600" y="5324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267450" y="53244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5362575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570547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总结 · 复现结论 · 未来启示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90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Introduction | 研究背景与动机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8585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45319" y="1123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847725" y="108585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46685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能源管理需求：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精确的电力需求预测对能源管理至关重要，电力无法像水或食物一样轻易储存，必须实时生成以匹配需求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03835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环境压力：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温室气体排放和气候变化推动可持续能源管理需求，准确的预测有助于防止能源短缺和不必要的过度生产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60985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用户角色：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终端用户（家庭住户）在化石燃料消耗和碳排放中扮演重要角色，提高其能源使用意识可促进节能行为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295650"/>
            <a:ext cx="5562600" cy="1600200"/>
          </a:xfrm>
          <a:custGeom>
            <a:avLst/>
            <a:gdLst/>
            <a:ahLst/>
            <a:cxnLst/>
            <a:rect l="l" t="t" r="r" b="b"/>
            <a:pathLst>
              <a:path w="5562600" h="16002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1523998"/>
                </a:lnTo>
                <a:cubicBezTo>
                  <a:pt x="5562600" y="1566083"/>
                  <a:pt x="5528483" y="1600200"/>
                  <a:pt x="54863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3486150"/>
            <a:ext cx="526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关键挑战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867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74" y="38671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不同家庭的能源使用行为差异显著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4171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174" y="41719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地理位置和气候条件影响能源使用模式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476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74" y="44767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需要理解驱动能源需求峰值的关键因素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7450" y="108585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0813" y="1123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15125" y="108585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0" y="14668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问题1：深度学习的"黑盒"困境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0" y="173355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CNN-LSTM神经网络在能源需求预测中表现出色，但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难以解释其预测结果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，牺牲了可解释性以换取准确性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7000" y="23431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问题2：现有XAI方法的局限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0" y="260985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SHAP、LIME等XAI技术主要关注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相关性而非因果关系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，无法揭示变量间的因果机制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0" y="32194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问题3：缺乏可行动建议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0" y="348615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现有方法无法为终端用户提供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可操作的节能建议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，难以促进能源效率行为改变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7450" y="3943350"/>
            <a:ext cx="5543550" cy="1181100"/>
          </a:xfrm>
          <a:custGeom>
            <a:avLst/>
            <a:gdLst/>
            <a:ahLst/>
            <a:cxnLst/>
            <a:rect l="l" t="t" r="r" b="b"/>
            <a:pathLst>
              <a:path w="5543550" h="1181100">
                <a:moveTo>
                  <a:pt x="38100" y="0"/>
                </a:moveTo>
                <a:lnTo>
                  <a:pt x="5467345" y="0"/>
                </a:lnTo>
                <a:cubicBezTo>
                  <a:pt x="5509404" y="0"/>
                  <a:pt x="5543550" y="34146"/>
                  <a:pt x="5543550" y="76205"/>
                </a:cubicBezTo>
                <a:lnTo>
                  <a:pt x="5543550" y="1104895"/>
                </a:lnTo>
                <a:cubicBezTo>
                  <a:pt x="5543550" y="1146982"/>
                  <a:pt x="5509432" y="1181100"/>
                  <a:pt x="546734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67450" y="3943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77000" y="413385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研究目标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447675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提出一种既能提供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准确预测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又能给出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因果解释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的方法，帮助家庭住户理解能源使用模式并采取节能行动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Introduction | 核心贡献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4775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562103"/>
                </a:lnTo>
                <a:cubicBezTo>
                  <a:pt x="5600700" y="1604185"/>
                  <a:pt x="5566585" y="1638300"/>
                  <a:pt x="552450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4775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0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" y="1200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1200150"/>
            <a:ext cx="1114425" cy="285750"/>
          </a:xfrm>
          <a:prstGeom prst="rect">
            <a:avLst/>
          </a:prstGeom>
          <a:noFill/>
          <a:ln/>
        </p:spPr>
        <p:txBody>
          <a:bodyPr wrap="square" lIns="0" tIns="1905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预测模型创新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1585913"/>
            <a:ext cx="23142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并行CNN-LSTM-attention架构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18859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CNN分支：提取空间特征（短窗口内的波动和使用模式）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21145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LSTM分支：提取时间特征（长期趋势和季节性效应）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3431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注意力机制：帮助模型关注关键时间点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83845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562103"/>
                </a:lnTo>
                <a:cubicBezTo>
                  <a:pt x="5600700" y="1604185"/>
                  <a:pt x="5566585" y="1638300"/>
                  <a:pt x="552450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283845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2990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3400" y="29908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2990850"/>
            <a:ext cx="1114425" cy="285750"/>
          </a:xfrm>
          <a:prstGeom prst="rect">
            <a:avLst/>
          </a:prstGeom>
          <a:noFill/>
          <a:ln/>
        </p:spPr>
        <p:txBody>
          <a:bodyPr wrap="square" lIns="0" tIns="1905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因果解释框架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376613"/>
            <a:ext cx="22895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贝叶斯网络（BN）提供因果解释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36766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结合领域知识构建网络结构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39052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整合深度学习参数（CAM和Attention）增强可解释性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1338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揭示变量间的因果关系而非仅相关性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04775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562103"/>
                </a:lnTo>
                <a:cubicBezTo>
                  <a:pt x="5600700" y="1604185"/>
                  <a:pt x="5566585" y="1638300"/>
                  <a:pt x="552450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0300" y="104775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1750" y="120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43650" y="1200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00850" y="1200150"/>
            <a:ext cx="942975" cy="285750"/>
          </a:xfrm>
          <a:prstGeom prst="rect">
            <a:avLst/>
          </a:prstGeom>
          <a:noFill/>
          <a:ln/>
        </p:spPr>
        <p:txBody>
          <a:bodyPr wrap="square" lIns="0" tIns="1905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三状态分类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0850" y="1585913"/>
            <a:ext cx="20769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能源需求模式（EDP）三状态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0850" y="18859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Peak Warning：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高能耗状态，提示用户注意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00850" y="21145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No Significant Change：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稳定状态，能源使用平稳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00850" y="23431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Lower Than Usual：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节能状态，能源使用减少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00775" y="2847975"/>
            <a:ext cx="5600700" cy="1543050"/>
          </a:xfrm>
          <a:custGeom>
            <a:avLst/>
            <a:gdLst/>
            <a:ahLst/>
            <a:cxnLst/>
            <a:rect l="l" t="t" r="r" b="b"/>
            <a:pathLst>
              <a:path w="5600700" h="1543050">
                <a:moveTo>
                  <a:pt x="76196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466854"/>
                </a:lnTo>
                <a:cubicBezTo>
                  <a:pt x="5600700" y="1508936"/>
                  <a:pt x="5566586" y="1543050"/>
                  <a:pt x="5524504" y="1543050"/>
                </a:cubicBezTo>
                <a:lnTo>
                  <a:pt x="76196" y="1543050"/>
                </a:lnTo>
                <a:cubicBezTo>
                  <a:pt x="34114" y="1543050"/>
                  <a:pt x="0" y="1508936"/>
                  <a:pt x="0" y="1466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2700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324600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81800" y="3009900"/>
            <a:ext cx="771525" cy="285750"/>
          </a:xfrm>
          <a:prstGeom prst="rect">
            <a:avLst/>
          </a:prstGeom>
          <a:noFill/>
          <a:ln/>
        </p:spPr>
        <p:txBody>
          <a:bodyPr wrap="square" lIns="0" tIns="1905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10363" y="3390900"/>
            <a:ext cx="119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34.84%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48463" y="37338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UCI数据集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84108" y="3652838"/>
            <a:ext cx="2486025" cy="9525"/>
          </a:xfrm>
          <a:custGeom>
            <a:avLst/>
            <a:gdLst/>
            <a:ahLst/>
            <a:cxnLst/>
            <a:rect l="l" t="t" r="r" b="b"/>
            <a:pathLst>
              <a:path w="2486025" h="9525">
                <a:moveTo>
                  <a:pt x="0" y="0"/>
                </a:moveTo>
                <a:lnTo>
                  <a:pt x="2486025" y="0"/>
                </a:lnTo>
                <a:lnTo>
                  <a:pt x="24860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554519" y="3390900"/>
            <a:ext cx="1152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13.63%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92619" y="37338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REFIT数据集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81800" y="403860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相比串行CNN-LSTM配置的平均性能提升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60198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4" name="Text 42"/>
          <p:cNvSpPr/>
          <p:nvPr/>
        </p:nvSpPr>
        <p:spPr>
          <a:xfrm>
            <a:off x="495300" y="6134100"/>
            <a:ext cx="1127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关键创新点：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首次将深度学习参数（CAM、Attention）与贝叶斯网络结合，提供因果解释而非仅相关性分析，为能源管理提供可行动建议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781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Related Work | 相关工作综述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066800"/>
            <a:ext cx="3686175" cy="4152900"/>
          </a:xfrm>
          <a:custGeom>
            <a:avLst/>
            <a:gdLst/>
            <a:ahLst/>
            <a:cxnLst/>
            <a:rect l="l" t="t" r="r" b="b"/>
            <a:pathLst>
              <a:path w="3686175" h="41529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4076707"/>
                </a:lnTo>
                <a:cubicBezTo>
                  <a:pt x="3686175" y="4118787"/>
                  <a:pt x="3652062" y="4152900"/>
                  <a:pt x="3609982" y="4152900"/>
                </a:cubicBezTo>
                <a:lnTo>
                  <a:pt x="76193" y="4152900"/>
                </a:lnTo>
                <a:cubicBezTo>
                  <a:pt x="34113" y="4152900"/>
                  <a:pt x="0" y="4118787"/>
                  <a:pt x="0" y="40767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0668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67928" y="12858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752475" y="123825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自解释模型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1619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决策树 / 随机森林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18859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基于构建规则提供洞察，帮助建筑能效决策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1907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自编码器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24574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使用潜在变量解释电力条件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400" y="2762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30289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基于关联规则建模因果关系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4475" y="1066800"/>
            <a:ext cx="3686175" cy="4152900"/>
          </a:xfrm>
          <a:custGeom>
            <a:avLst/>
            <a:gdLst/>
            <a:ahLst/>
            <a:cxnLst/>
            <a:rect l="l" t="t" r="r" b="b"/>
            <a:pathLst>
              <a:path w="3686175" h="41529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4076707"/>
                </a:lnTo>
                <a:cubicBezTo>
                  <a:pt x="3686175" y="4118787"/>
                  <a:pt x="3652062" y="4152900"/>
                  <a:pt x="3609982" y="4152900"/>
                </a:cubicBezTo>
                <a:lnTo>
                  <a:pt x="76193" y="4152900"/>
                </a:lnTo>
                <a:cubicBezTo>
                  <a:pt x="34113" y="4152900"/>
                  <a:pt x="0" y="4118787"/>
                  <a:pt x="0" y="40767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4475" y="10668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0688" y="1285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37505"/>
                </a:moveTo>
                <a:cubicBezTo>
                  <a:pt x="65198" y="37505"/>
                  <a:pt x="61615" y="41088"/>
                  <a:pt x="61615" y="45541"/>
                </a:cubicBezTo>
                <a:lnTo>
                  <a:pt x="61615" y="61615"/>
                </a:lnTo>
                <a:lnTo>
                  <a:pt x="45541" y="61615"/>
                </a:lnTo>
                <a:cubicBezTo>
                  <a:pt x="41088" y="61615"/>
                  <a:pt x="37505" y="65198"/>
                  <a:pt x="37505" y="69652"/>
                </a:cubicBezTo>
                <a:cubicBezTo>
                  <a:pt x="37505" y="74105"/>
                  <a:pt x="41088" y="77688"/>
                  <a:pt x="45541" y="77688"/>
                </a:cubicBezTo>
                <a:lnTo>
                  <a:pt x="61615" y="77688"/>
                </a:lnTo>
                <a:lnTo>
                  <a:pt x="61615" y="93762"/>
                </a:lnTo>
                <a:cubicBezTo>
                  <a:pt x="61615" y="98215"/>
                  <a:pt x="65198" y="101798"/>
                  <a:pt x="69652" y="101798"/>
                </a:cubicBezTo>
                <a:cubicBezTo>
                  <a:pt x="74105" y="101798"/>
                  <a:pt x="77688" y="98215"/>
                  <a:pt x="77688" y="93762"/>
                </a:cubicBezTo>
                <a:lnTo>
                  <a:pt x="77688" y="77688"/>
                </a:lnTo>
                <a:lnTo>
                  <a:pt x="93762" y="77688"/>
                </a:lnTo>
                <a:cubicBezTo>
                  <a:pt x="98215" y="77688"/>
                  <a:pt x="101798" y="74105"/>
                  <a:pt x="101798" y="69652"/>
                </a:cubicBezTo>
                <a:cubicBezTo>
                  <a:pt x="101798" y="65198"/>
                  <a:pt x="98215" y="61615"/>
                  <a:pt x="93762" y="61615"/>
                </a:cubicBezTo>
                <a:lnTo>
                  <a:pt x="77688" y="61615"/>
                </a:lnTo>
                <a:lnTo>
                  <a:pt x="77688" y="45541"/>
                </a:lnTo>
                <a:cubicBezTo>
                  <a:pt x="77688" y="41088"/>
                  <a:pt x="74105" y="37505"/>
                  <a:pt x="69652" y="3750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25950" y="123825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事后解释方法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6875" y="1619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SHAP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6875" y="18859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提供局部和全局特征贡献，广泛用于能源预测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06875" y="21907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6875" y="24574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仅支持局部解释，扰动样本并拟合替代模型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6875" y="2762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PD Variance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6875" y="30289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基于偏依赖方差的全局解释方法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7950" y="1066800"/>
            <a:ext cx="3686175" cy="4152900"/>
          </a:xfrm>
          <a:custGeom>
            <a:avLst/>
            <a:gdLst/>
            <a:ahLst/>
            <a:cxnLst/>
            <a:rect l="l" t="t" r="r" b="b"/>
            <a:pathLst>
              <a:path w="3686175" h="41529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4076707"/>
                </a:lnTo>
                <a:cubicBezTo>
                  <a:pt x="3686175" y="4118787"/>
                  <a:pt x="3652062" y="4152900"/>
                  <a:pt x="3609982" y="4152900"/>
                </a:cubicBezTo>
                <a:lnTo>
                  <a:pt x="76193" y="4152900"/>
                </a:lnTo>
                <a:cubicBezTo>
                  <a:pt x="34113" y="4152900"/>
                  <a:pt x="0" y="4118787"/>
                  <a:pt x="0" y="40767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950" y="10668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8304163" y="1285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499425" y="123825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现有方法局限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80350" y="1619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相关性 vs 因果性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80350" y="18859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SHAP和LIME主要关注相关性，无法揭示因果关系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80350" y="21907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复杂交互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80350" y="24574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复杂变量交互导致解释困难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80350" y="2762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缺乏整合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80350" y="30289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缺乏结合深度学习参数的因果解释框架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5372100"/>
            <a:ext cx="11410950" cy="1104900"/>
          </a:xfrm>
          <a:custGeom>
            <a:avLst/>
            <a:gdLst/>
            <a:ahLst/>
            <a:cxnLst/>
            <a:rect l="l" t="t" r="r" b="b"/>
            <a:pathLst>
              <a:path w="11410950" h="11049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028695"/>
                </a:lnTo>
                <a:cubicBezTo>
                  <a:pt x="11410950" y="1070782"/>
                  <a:pt x="11376832" y="1104900"/>
                  <a:pt x="113347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05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16744" y="55721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790575" y="55245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本文定位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" y="5867400"/>
            <a:ext cx="1116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首次将CNN-LSTM深度学习参数（CAM、Attention）与贝叶斯网络结合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，提供因果解释而非仅相关性分析。通过整合领域知识和深度学习参数，构建可解释的能源需求预测框架，为终端用户提供可行动的节能建议。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447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 | 方法概述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4352925" cy="1752600"/>
          </a:xfrm>
          <a:custGeom>
            <a:avLst/>
            <a:gdLst/>
            <a:ahLst/>
            <a:cxnLst/>
            <a:rect l="l" t="t" r="r" b="b"/>
            <a:pathLst>
              <a:path w="4352925" h="1752600">
                <a:moveTo>
                  <a:pt x="38100" y="0"/>
                </a:moveTo>
                <a:lnTo>
                  <a:pt x="4276722" y="0"/>
                </a:lnTo>
                <a:cubicBezTo>
                  <a:pt x="4318808" y="0"/>
                  <a:pt x="4352925" y="34117"/>
                  <a:pt x="4352925" y="76203"/>
                </a:cubicBezTo>
                <a:lnTo>
                  <a:pt x="4352925" y="1676397"/>
                </a:lnTo>
                <a:cubicBezTo>
                  <a:pt x="4352925" y="1718483"/>
                  <a:pt x="4318808" y="1752600"/>
                  <a:pt x="4276722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输入层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4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74" y="15430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观测窗口ω：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80个时间戳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84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74" y="184785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目标标签l：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单步预测 (t+1)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1526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174" y="2152650"/>
            <a:ext cx="3876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特征：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有功功率、无功功率、电压、电流、四个子计量器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914650"/>
            <a:ext cx="4352925" cy="2990850"/>
          </a:xfrm>
          <a:custGeom>
            <a:avLst/>
            <a:gdLst/>
            <a:ahLst/>
            <a:cxnLst/>
            <a:rect l="l" t="t" r="r" b="b"/>
            <a:pathLst>
              <a:path w="4352925" h="2990850">
                <a:moveTo>
                  <a:pt x="38100" y="0"/>
                </a:moveTo>
                <a:lnTo>
                  <a:pt x="4276718" y="0"/>
                </a:lnTo>
                <a:cubicBezTo>
                  <a:pt x="4318806" y="0"/>
                  <a:pt x="4352925" y="34119"/>
                  <a:pt x="4352925" y="76207"/>
                </a:cubicBezTo>
                <a:lnTo>
                  <a:pt x="4352925" y="2914643"/>
                </a:lnTo>
                <a:cubicBezTo>
                  <a:pt x="4352925" y="2956731"/>
                  <a:pt x="4318806" y="2990850"/>
                  <a:pt x="4276718" y="2990850"/>
                </a:cubicBezTo>
                <a:lnTo>
                  <a:pt x="38100" y="2990850"/>
                </a:lnTo>
                <a:cubicBezTo>
                  <a:pt x="17072" y="2990850"/>
                  <a:pt x="0" y="2973778"/>
                  <a:pt x="0" y="2952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2914650"/>
            <a:ext cx="38100" cy="2990850"/>
          </a:xfrm>
          <a:custGeom>
            <a:avLst/>
            <a:gdLst/>
            <a:ahLst/>
            <a:cxnLst/>
            <a:rect l="l" t="t" r="r" b="b"/>
            <a:pathLst>
              <a:path w="38100" h="2990850">
                <a:moveTo>
                  <a:pt x="38100" y="0"/>
                </a:moveTo>
                <a:lnTo>
                  <a:pt x="38100" y="0"/>
                </a:lnTo>
                <a:lnTo>
                  <a:pt x="38100" y="2990850"/>
                </a:lnTo>
                <a:lnTo>
                  <a:pt x="38100" y="2990850"/>
                </a:lnTo>
                <a:cubicBezTo>
                  <a:pt x="17072" y="2990850"/>
                  <a:pt x="0" y="2973778"/>
                  <a:pt x="0" y="2952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306705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核心组件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3448050"/>
            <a:ext cx="410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并行CNN-LSTM模块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3900" y="37147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CNN分支：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提取空间特征（短窗口内的波动和使用模式）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3900" y="39433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LSTM分支：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提取时间特征（长期趋势和季节性效应）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3900" y="41719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注意力机制：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计算时间步权重，关注关键时间点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476750"/>
            <a:ext cx="410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因果解释模块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3900" y="47434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符号提取：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离散化连续值，识别三种EDP状态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900" y="49720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关联规则挖掘：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Apriori算法提取变量关系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3900" y="52006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 + 领域知识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" y="542925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DLP分析：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CAM聚类、Attention累积聚类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45410" y="1009650"/>
            <a:ext cx="6867525" cy="4895850"/>
          </a:xfrm>
          <a:custGeom>
            <a:avLst/>
            <a:gdLst/>
            <a:ahLst/>
            <a:cxnLst/>
            <a:rect l="l" t="t" r="r" b="b"/>
            <a:pathLst>
              <a:path w="6867525" h="4895850">
                <a:moveTo>
                  <a:pt x="76179" y="0"/>
                </a:moveTo>
                <a:lnTo>
                  <a:pt x="6791346" y="0"/>
                </a:lnTo>
                <a:cubicBezTo>
                  <a:pt x="6833418" y="0"/>
                  <a:pt x="6867525" y="34107"/>
                  <a:pt x="6867525" y="76179"/>
                </a:cubicBezTo>
                <a:lnTo>
                  <a:pt x="6867525" y="4819671"/>
                </a:lnTo>
                <a:cubicBezTo>
                  <a:pt x="6867525" y="4861743"/>
                  <a:pt x="6833418" y="4895850"/>
                  <a:pt x="6791346" y="4895850"/>
                </a:cubicBezTo>
                <a:lnTo>
                  <a:pt x="76179" y="4895850"/>
                </a:lnTo>
                <a:cubicBezTo>
                  <a:pt x="34107" y="4895850"/>
                  <a:pt x="0" y="4861743"/>
                  <a:pt x="0" y="4819671"/>
                </a:cubicBezTo>
                <a:lnTo>
                  <a:pt x="0" y="76179"/>
                </a:lnTo>
                <a:cubicBezTo>
                  <a:pt x="0" y="34107"/>
                  <a:pt x="34107" y="0"/>
                  <a:pt x="7617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5054947" y="1162050"/>
            <a:ext cx="664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整体架构</a:t>
            </a:r>
            <a:endParaRPr lang="en-US" sz="1600" dirty="0"/>
          </a:p>
        </p:txBody>
      </p:sp>
      <p:pic>
        <p:nvPicPr>
          <p:cNvPr id="29" name="Image 0" descr="https://kimi-web-img.moonshot.cn/img/towardsdatascience.com/4de3806a4e379725b4911739b2f579497ddbae5f.jpeg">    </p:cNvPr>
          <p:cNvPicPr>
            <a:picLocks noChangeAspect="1"/>
          </p:cNvPicPr>
          <p:nvPr/>
        </p:nvPicPr>
        <p:blipFill>
          <a:blip r:embed="rId1"/>
          <a:srcRect l="0" r="0" t="15440" b="15440"/>
          <a:stretch/>
        </p:blipFill>
        <p:spPr>
          <a:xfrm>
            <a:off x="5097810" y="1781175"/>
            <a:ext cx="6562725" cy="3810000"/>
          </a:xfrm>
          <a:prstGeom prst="roundRect">
            <a:avLst>
              <a:gd name="adj" fmla="val 1000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533400" y="6134100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输出：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预测结果（下一时刻能源需求值）+ 因果解释（三种EDP状态的概率和原因）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5362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 | CNN-LSTM-Attention预测模型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并行CNN模块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049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输入：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预处理后的时间序列数据 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= {x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i,1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 ..., 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i,n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809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卷积操作：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∅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lConv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将特征x映射为特征表示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1145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特点：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可堆叠多层卷积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647950"/>
            <a:ext cx="5600700" cy="2133600"/>
          </a:xfrm>
          <a:custGeom>
            <a:avLst/>
            <a:gdLst/>
            <a:ahLst/>
            <a:cxnLst/>
            <a:rect l="l" t="t" r="r" b="b"/>
            <a:pathLst>
              <a:path w="5600700" h="2133600">
                <a:moveTo>
                  <a:pt x="38100" y="0"/>
                </a:moveTo>
                <a:lnTo>
                  <a:pt x="5524509" y="0"/>
                </a:lnTo>
                <a:cubicBezTo>
                  <a:pt x="5566560" y="0"/>
                  <a:pt x="5600700" y="34140"/>
                  <a:pt x="5600700" y="76191"/>
                </a:cubicBezTo>
                <a:lnTo>
                  <a:pt x="5600700" y="2057409"/>
                </a:lnTo>
                <a:cubicBezTo>
                  <a:pt x="5600700" y="2099460"/>
                  <a:pt x="5566560" y="2133600"/>
                  <a:pt x="5524509" y="2133600"/>
                </a:cubicBez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264795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3810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" y="28003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LSTM模块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1432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输出：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隐藏状态H、细胞状态S、输出O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6263" y="34528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225" y="35337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注意力权重（公式1）：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37242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exp(fc(o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/ 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k=1N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fc(o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263" y="408146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225" y="41624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上下文向量（公式2）：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43529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k=1N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h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00965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581145"/>
                </a:lnTo>
                <a:cubicBezTo>
                  <a:pt x="5600700" y="1623232"/>
                  <a:pt x="5566582" y="1657350"/>
                  <a:pt x="552449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0300" y="10096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特征融合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86513" y="1509713"/>
            <a:ext cx="5267325" cy="733425"/>
          </a:xfrm>
          <a:custGeom>
            <a:avLst/>
            <a:gdLst/>
            <a:ahLst/>
            <a:cxnLst/>
            <a:rect l="l" t="t" r="r" b="b"/>
            <a:pathLst>
              <a:path w="5267325" h="733425">
                <a:moveTo>
                  <a:pt x="38101" y="0"/>
                </a:moveTo>
                <a:lnTo>
                  <a:pt x="5229224" y="0"/>
                </a:lnTo>
                <a:cubicBezTo>
                  <a:pt x="5250252" y="0"/>
                  <a:pt x="5267325" y="17073"/>
                  <a:pt x="5267325" y="38101"/>
                </a:cubicBezTo>
                <a:lnTo>
                  <a:pt x="5267325" y="695324"/>
                </a:lnTo>
                <a:cubicBezTo>
                  <a:pt x="5267325" y="716352"/>
                  <a:pt x="5250252" y="733425"/>
                  <a:pt x="5229224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5575" y="162877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公式3：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05575" y="189547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combined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concat(flattened(∅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lConv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c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23241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将CNN输出与LSTM上下文向量拼接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281940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581145"/>
                </a:lnTo>
                <a:cubicBezTo>
                  <a:pt x="5600700" y="1623232"/>
                  <a:pt x="5566582" y="1657350"/>
                  <a:pt x="552449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0300" y="28194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0" y="29718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回归预测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6513" y="3319463"/>
            <a:ext cx="5267325" cy="733425"/>
          </a:xfrm>
          <a:custGeom>
            <a:avLst/>
            <a:gdLst/>
            <a:ahLst/>
            <a:cxnLst/>
            <a:rect l="l" t="t" r="r" b="b"/>
            <a:pathLst>
              <a:path w="5267325" h="733425">
                <a:moveTo>
                  <a:pt x="38101" y="0"/>
                </a:moveTo>
                <a:lnTo>
                  <a:pt x="5229224" y="0"/>
                </a:lnTo>
                <a:cubicBezTo>
                  <a:pt x="5250252" y="0"/>
                  <a:pt x="5267325" y="17073"/>
                  <a:pt x="5267325" y="38101"/>
                </a:cubicBezTo>
                <a:lnTo>
                  <a:pt x="5267325" y="695324"/>
                </a:lnTo>
                <a:cubicBezTo>
                  <a:pt x="5267325" y="716352"/>
                  <a:pt x="5250252" y="733425"/>
                  <a:pt x="5229224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05575" y="343852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公式4：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5575" y="370522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ŷ = ∅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combined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41338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使用多层感知机（MLP）进行最终预测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0300" y="462915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38100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333506"/>
                </a:lnTo>
                <a:cubicBezTo>
                  <a:pt x="5600700" y="1375587"/>
                  <a:pt x="5566587" y="1409700"/>
                  <a:pt x="552450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10300" y="462915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381750" y="47815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关键设计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1750" y="5124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10424" y="51244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减少信息抽象损失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1750" y="5391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10424" y="53911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注意力机制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捕获关键时间点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565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10424" y="56578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MLP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进行最终回归预测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590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 | 符号提取与离散化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876550"/>
          </a:xfrm>
          <a:custGeom>
            <a:avLst/>
            <a:gdLst/>
            <a:ahLst/>
            <a:cxnLst/>
            <a:rect l="l" t="t" r="r" b="b"/>
            <a:pathLst>
              <a:path w="5600700" h="2876550">
                <a:moveTo>
                  <a:pt x="38100" y="0"/>
                </a:moveTo>
                <a:lnTo>
                  <a:pt x="5524500" y="0"/>
                </a:lnTo>
                <a:cubicBezTo>
                  <a:pt x="5566584" y="0"/>
                  <a:pt x="5600700" y="34116"/>
                  <a:pt x="5600700" y="76200"/>
                </a:cubicBezTo>
                <a:lnTo>
                  <a:pt x="5600700" y="2800350"/>
                </a:lnTo>
                <a:cubicBezTo>
                  <a:pt x="5600700" y="2842434"/>
                  <a:pt x="5566584" y="2876550"/>
                  <a:pt x="5524500" y="2876550"/>
                </a:cubicBezTo>
                <a:lnTo>
                  <a:pt x="38100" y="2876550"/>
                </a:lnTo>
                <a:cubicBezTo>
                  <a:pt x="17072" y="2876550"/>
                  <a:pt x="0" y="2859478"/>
                  <a:pt x="0" y="2838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876550"/>
          </a:xfrm>
          <a:custGeom>
            <a:avLst/>
            <a:gdLst/>
            <a:ahLst/>
            <a:cxnLst/>
            <a:rect l="l" t="t" r="r" b="b"/>
            <a:pathLst>
              <a:path w="38100" h="2876550">
                <a:moveTo>
                  <a:pt x="38100" y="0"/>
                </a:moveTo>
                <a:lnTo>
                  <a:pt x="38100" y="0"/>
                </a:lnTo>
                <a:lnTo>
                  <a:pt x="38100" y="2876550"/>
                </a:lnTo>
                <a:lnTo>
                  <a:pt x="38100" y="2876550"/>
                </a:lnTo>
                <a:cubicBezTo>
                  <a:pt x="17072" y="2876550"/>
                  <a:pt x="0" y="2859478"/>
                  <a:pt x="0" y="2838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EDP状态识别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263" y="15478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225" y="16287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公式5 - Sn尺度估计器：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18192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c × median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{median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{|x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x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|}}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263" y="217646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225" y="22574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公式6 - Z分数计算：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4479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(x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= |x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MED(X)| / (α × S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263" y="2805113"/>
            <a:ext cx="5267325" cy="923925"/>
          </a:xfrm>
          <a:custGeom>
            <a:avLst/>
            <a:gdLst/>
            <a:ahLst/>
            <a:cxnLst/>
            <a:rect l="l" t="t" r="r" b="b"/>
            <a:pathLst>
              <a:path w="5267325" h="923925">
                <a:moveTo>
                  <a:pt x="38103" y="0"/>
                </a:moveTo>
                <a:lnTo>
                  <a:pt x="5229222" y="0"/>
                </a:lnTo>
                <a:cubicBezTo>
                  <a:pt x="5250266" y="0"/>
                  <a:pt x="5267325" y="17059"/>
                  <a:pt x="5267325" y="38103"/>
                </a:cubicBezTo>
                <a:lnTo>
                  <a:pt x="5267325" y="885822"/>
                </a:lnTo>
                <a:cubicBezTo>
                  <a:pt x="5267325" y="906866"/>
                  <a:pt x="5250266" y="923925"/>
                  <a:pt x="5229222" y="923925"/>
                </a:cubicBezTo>
                <a:lnTo>
                  <a:pt x="38103" y="923925"/>
                </a:lnTo>
                <a:cubicBezTo>
                  <a:pt x="17059" y="923925"/>
                  <a:pt x="0" y="906866"/>
                  <a:pt x="0" y="885822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225" y="28860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公式7 - 三状态分类：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" y="3114675"/>
            <a:ext cx="5162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Peak Warning: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Z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Sn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(x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) &gt; threshold 且 Z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Sn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(x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) &gt; m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3305175"/>
            <a:ext cx="5162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Lower Than Usual: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Z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Sn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(x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) &gt; threshold 且 Z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Sn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(x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) &lt; m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3495675"/>
            <a:ext cx="5162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No Significant Change: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其他情况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4038600"/>
            <a:ext cx="5600700" cy="2057400"/>
          </a:xfrm>
          <a:custGeom>
            <a:avLst/>
            <a:gdLst/>
            <a:ahLst/>
            <a:cxnLst/>
            <a:rect l="l" t="t" r="r" b="b"/>
            <a:pathLst>
              <a:path w="5600700" h="2057400">
                <a:moveTo>
                  <a:pt x="38100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981194"/>
                </a:lnTo>
                <a:cubicBezTo>
                  <a:pt x="5600700" y="2023281"/>
                  <a:pt x="5566581" y="2057400"/>
                  <a:pt x="5524494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00050" y="40386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41910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用电量离散化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263" y="457676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225" y="46577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公式8 - 分位数计算：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7225" y="48482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(N+1) × r/4, r ∈ {1,2,3}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6263" y="5205413"/>
            <a:ext cx="5267325" cy="733425"/>
          </a:xfrm>
          <a:custGeom>
            <a:avLst/>
            <a:gdLst/>
            <a:ahLst/>
            <a:cxnLst/>
            <a:rect l="l" t="t" r="r" b="b"/>
            <a:pathLst>
              <a:path w="5267325" h="733425">
                <a:moveTo>
                  <a:pt x="38101" y="0"/>
                </a:moveTo>
                <a:lnTo>
                  <a:pt x="5229224" y="0"/>
                </a:lnTo>
                <a:cubicBezTo>
                  <a:pt x="5250252" y="0"/>
                  <a:pt x="5267325" y="17073"/>
                  <a:pt x="5267325" y="38101"/>
                </a:cubicBezTo>
                <a:lnTo>
                  <a:pt x="5267325" y="695324"/>
                </a:lnTo>
                <a:cubicBezTo>
                  <a:pt x="5267325" y="716352"/>
                  <a:pt x="5250252" y="733425"/>
                  <a:pt x="5229224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225" y="52863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公式9 - 四状态分类：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225" y="5514975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Low: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i ≤ Q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28975" y="5514975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Medium: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Q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&lt; i ≤ Q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225" y="5705475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High: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Q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&lt; i ≤ Q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28975" y="5705475"/>
            <a:ext cx="2590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Very High: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i &gt; Q</a:t>
            </a:r>
            <a:pPr>
              <a:lnSpc>
                <a:spcPct val="110000"/>
              </a:lnSpc>
            </a:pPr>
            <a:r>
              <a:rPr lang="en-US" sz="67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0300" y="1009650"/>
            <a:ext cx="5600700" cy="2457450"/>
          </a:xfrm>
          <a:custGeom>
            <a:avLst/>
            <a:gdLst/>
            <a:ahLst/>
            <a:cxnLst/>
            <a:rect l="l" t="t" r="r" b="b"/>
            <a:pathLst>
              <a:path w="5600700" h="2457450">
                <a:moveTo>
                  <a:pt x="38100" y="0"/>
                </a:moveTo>
                <a:lnTo>
                  <a:pt x="5524494" y="0"/>
                </a:lnTo>
                <a:cubicBezTo>
                  <a:pt x="5566582" y="0"/>
                  <a:pt x="5600700" y="34118"/>
                  <a:pt x="5600700" y="76206"/>
                </a:cubicBezTo>
                <a:lnTo>
                  <a:pt x="5600700" y="2381244"/>
                </a:lnTo>
                <a:cubicBezTo>
                  <a:pt x="5600700" y="2423332"/>
                  <a:pt x="5566582" y="2457450"/>
                  <a:pt x="5524494" y="2457450"/>
                </a:cubicBezTo>
                <a:lnTo>
                  <a:pt x="38100" y="2457450"/>
                </a:lnTo>
                <a:cubicBezTo>
                  <a:pt x="17072" y="2457450"/>
                  <a:pt x="0" y="2440378"/>
                  <a:pt x="0" y="2419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0300" y="1009650"/>
            <a:ext cx="38100" cy="2457450"/>
          </a:xfrm>
          <a:custGeom>
            <a:avLst/>
            <a:gdLst/>
            <a:ahLst/>
            <a:cxnLst/>
            <a:rect l="l" t="t" r="r" b="b"/>
            <a:pathLst>
              <a:path w="38100" h="2457450">
                <a:moveTo>
                  <a:pt x="38100" y="0"/>
                </a:moveTo>
                <a:lnTo>
                  <a:pt x="38100" y="0"/>
                </a:lnTo>
                <a:lnTo>
                  <a:pt x="38100" y="2457450"/>
                </a:lnTo>
                <a:lnTo>
                  <a:pt x="38100" y="2457450"/>
                </a:lnTo>
                <a:cubicBezTo>
                  <a:pt x="17072" y="2457450"/>
                  <a:pt x="0" y="2440378"/>
                  <a:pt x="0" y="2419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 深度学习参数提取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激活图（CAM）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6513" y="181451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7475" y="18954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Activation Map = ∅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MLP_Layer1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(concat(flattened(∅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lConv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0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22860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注意力向量（ATT）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1750" y="25527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来自公式1的注意力权重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1750" y="28575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K-means聚类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1750" y="31242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使用肘部法则确定k值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0300" y="361950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10300" y="36195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381750" y="37719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175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10424" y="41529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提取季节性数据：季节、日期、周末、月份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1750" y="4457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10424" y="44577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基于分位数的离散化提高可解释性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1750" y="4762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10424" y="47625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Sn尺度估计器对噪声环境更鲁棒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876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 | 贝叶斯网络因果解释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133600"/>
          </a:xfrm>
          <a:custGeom>
            <a:avLst/>
            <a:gdLst/>
            <a:ahLst/>
            <a:cxnLst/>
            <a:rect l="l" t="t" r="r" b="b"/>
            <a:pathLst>
              <a:path w="5600700" h="2133600">
                <a:moveTo>
                  <a:pt x="38100" y="0"/>
                </a:moveTo>
                <a:lnTo>
                  <a:pt x="5524509" y="0"/>
                </a:lnTo>
                <a:cubicBezTo>
                  <a:pt x="5566560" y="0"/>
                  <a:pt x="5600700" y="34140"/>
                  <a:pt x="5600700" y="76191"/>
                </a:cubicBezTo>
                <a:lnTo>
                  <a:pt x="5600700" y="2057409"/>
                </a:lnTo>
                <a:cubicBezTo>
                  <a:pt x="5600700" y="2099460"/>
                  <a:pt x="5566560" y="2133600"/>
                  <a:pt x="5524509" y="2133600"/>
                </a:cubicBez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3810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关联规则挖掘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263" y="15478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225" y="16287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公式11 - 置信度：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18192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Confidence(LHS→RHS) = Support(LHS∪RHS) / Support(LHS)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263" y="217646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225" y="22574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公式12 - 提升度：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4479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Lift(LHS→RHS) = Support(LHS∪RHS) / (Support(LHS)×Support(RHS))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800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使用Apriori算法提取变量关系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956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2956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3448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结构学习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829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174" y="38290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结合关联规则和领域知识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133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74" y="41338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使用Genie Academic v4.1软件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4386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0174" y="44386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领域知识限制：禁止反向因果关系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4976813"/>
            <a:ext cx="5610225" cy="695325"/>
          </a:xfrm>
          <a:custGeom>
            <a:avLst/>
            <a:gdLst/>
            <a:ahLst/>
            <a:cxnLst/>
            <a:rect l="l" t="t" r="r" b="b"/>
            <a:pathLst>
              <a:path w="5610225" h="695325">
                <a:moveTo>
                  <a:pt x="38097" y="0"/>
                </a:moveTo>
                <a:lnTo>
                  <a:pt x="5572128" y="0"/>
                </a:lnTo>
                <a:cubicBezTo>
                  <a:pt x="5593154" y="0"/>
                  <a:pt x="5610225" y="17071"/>
                  <a:pt x="5610225" y="38097"/>
                </a:cubicBezTo>
                <a:lnTo>
                  <a:pt x="5610225" y="657228"/>
                </a:lnTo>
                <a:cubicBezTo>
                  <a:pt x="5610225" y="678254"/>
                  <a:pt x="5593154" y="695325"/>
                  <a:pt x="5572128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825" y="5095875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公式13 - 概率推理：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825" y="5362575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P(N|e) = ∏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ei∈e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P(N|Pa(N)) × e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1009650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0300" y="100965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3810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 网络结构（图3）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175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三个主结构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175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对应三种EDP状态（Peak Warning / No Significant Change / Lower Than Usual）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20764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五个主题变量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6050" y="23431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Physical Environment：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日期、时间、季节、星期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6050" y="25717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Appliance Usage：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厨房、洗衣、气候控制、其他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6050" y="28003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Electricity Consumption：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有功/无功功率、电压、电流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6050" y="30289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Energy Demand Pattern：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三种EDP状态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6050" y="32575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Deep Learning Parameters：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CAM、ATT聚类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375285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38100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333506"/>
                </a:lnTo>
                <a:cubicBezTo>
                  <a:pt x="5600700" y="1375587"/>
                  <a:pt x="5566587" y="1409700"/>
                  <a:pt x="552450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10300" y="375285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381750" y="39052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因果关系方向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1750" y="42481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基于领域知识的因果链：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1750" y="4552950"/>
            <a:ext cx="1247775" cy="457200"/>
          </a:xfrm>
          <a:custGeom>
            <a:avLst/>
            <a:gdLst/>
            <a:ahLst/>
            <a:cxnLst/>
            <a:rect l="l" t="t" r="r" b="b"/>
            <a:pathLst>
              <a:path w="1247775" h="457200">
                <a:moveTo>
                  <a:pt x="38098" y="0"/>
                </a:moveTo>
                <a:lnTo>
                  <a:pt x="1209677" y="0"/>
                </a:lnTo>
                <a:cubicBezTo>
                  <a:pt x="1230718" y="0"/>
                  <a:pt x="1247775" y="17057"/>
                  <a:pt x="1247775" y="38098"/>
                </a:cubicBezTo>
                <a:lnTo>
                  <a:pt x="1247775" y="419102"/>
                </a:lnTo>
                <a:cubicBezTo>
                  <a:pt x="1247775" y="440143"/>
                  <a:pt x="1230718" y="457200"/>
                  <a:pt x="12096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381750" y="4552950"/>
            <a:ext cx="131445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Physical Environment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04906" y="468630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914531" y="4552950"/>
            <a:ext cx="981075" cy="457200"/>
          </a:xfrm>
          <a:custGeom>
            <a:avLst/>
            <a:gdLst/>
            <a:ahLst/>
            <a:cxnLst/>
            <a:rect l="l" t="t" r="r" b="b"/>
            <a:pathLst>
              <a:path w="981075" h="457200">
                <a:moveTo>
                  <a:pt x="38098" y="0"/>
                </a:moveTo>
                <a:lnTo>
                  <a:pt x="942977" y="0"/>
                </a:lnTo>
                <a:cubicBezTo>
                  <a:pt x="964018" y="0"/>
                  <a:pt x="981075" y="17057"/>
                  <a:pt x="981075" y="38098"/>
                </a:cubicBezTo>
                <a:lnTo>
                  <a:pt x="981075" y="419102"/>
                </a:lnTo>
                <a:cubicBezTo>
                  <a:pt x="981075" y="440143"/>
                  <a:pt x="964018" y="457200"/>
                  <a:pt x="942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7914531" y="4552950"/>
            <a:ext cx="104775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Appliance Usage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69201" y="468630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78826" y="4552950"/>
            <a:ext cx="1362075" cy="457200"/>
          </a:xfrm>
          <a:custGeom>
            <a:avLst/>
            <a:gdLst/>
            <a:ahLst/>
            <a:cxnLst/>
            <a:rect l="l" t="t" r="r" b="b"/>
            <a:pathLst>
              <a:path w="1362075" h="457200">
                <a:moveTo>
                  <a:pt x="38098" y="0"/>
                </a:moveTo>
                <a:lnTo>
                  <a:pt x="1323977" y="0"/>
                </a:lnTo>
                <a:cubicBezTo>
                  <a:pt x="1345018" y="0"/>
                  <a:pt x="1362075" y="17057"/>
                  <a:pt x="1362075" y="38098"/>
                </a:cubicBezTo>
                <a:lnTo>
                  <a:pt x="1362075" y="419102"/>
                </a:lnTo>
                <a:cubicBezTo>
                  <a:pt x="1362075" y="440143"/>
                  <a:pt x="1345018" y="457200"/>
                  <a:pt x="1323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9178826" y="4552950"/>
            <a:ext cx="1428750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Electricity Consumption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615092" y="468630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824716" y="4552950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38098" y="0"/>
                </a:moveTo>
                <a:lnTo>
                  <a:pt x="800102" y="0"/>
                </a:lnTo>
                <a:cubicBezTo>
                  <a:pt x="821143" y="0"/>
                  <a:pt x="838200" y="17057"/>
                  <a:pt x="838200" y="38098"/>
                </a:cubicBezTo>
                <a:lnTo>
                  <a:pt x="838200" y="419102"/>
                </a:lnTo>
                <a:cubicBezTo>
                  <a:pt x="838200" y="440143"/>
                  <a:pt x="821143" y="457200"/>
                  <a:pt x="800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10824716" y="4552950"/>
            <a:ext cx="904875" cy="457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Peak Demand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590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 | 深度学习参数解释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686050"/>
          </a:xfrm>
          <a:custGeom>
            <a:avLst/>
            <a:gdLst/>
            <a:ahLst/>
            <a:cxnLst/>
            <a:rect l="l" t="t" r="r" b="b"/>
            <a:pathLst>
              <a:path w="5600700" h="2686050">
                <a:moveTo>
                  <a:pt x="38100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2609847"/>
                </a:lnTo>
                <a:cubicBezTo>
                  <a:pt x="5600700" y="2651933"/>
                  <a:pt x="5566583" y="2686050"/>
                  <a:pt x="5524497" y="2686050"/>
                </a:cubicBezTo>
                <a:lnTo>
                  <a:pt x="38100" y="2686050"/>
                </a:lnTo>
                <a:cubicBezTo>
                  <a:pt x="17072" y="2686050"/>
                  <a:pt x="0" y="2668978"/>
                  <a:pt x="0" y="2647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686050"/>
          </a:xfrm>
          <a:custGeom>
            <a:avLst/>
            <a:gdLst/>
            <a:ahLst/>
            <a:cxnLst/>
            <a:rect l="l" t="t" r="r" b="b"/>
            <a:pathLst>
              <a:path w="38100" h="2686050">
                <a:moveTo>
                  <a:pt x="38100" y="0"/>
                </a:moveTo>
                <a:lnTo>
                  <a:pt x="38100" y="0"/>
                </a:lnTo>
                <a:lnTo>
                  <a:pt x="38100" y="2686050"/>
                </a:lnTo>
                <a:lnTo>
                  <a:pt x="38100" y="2686050"/>
                </a:lnTo>
                <a:cubicBezTo>
                  <a:pt x="17072" y="2686050"/>
                  <a:pt x="0" y="2668978"/>
                  <a:pt x="0" y="2647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CAM聚类分析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聚类方法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K-means聚类提取相似模式，肘部法则确定k值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1145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余弦相似度过滤（公式14）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263" y="238601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225" y="24669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AverageCosineSimilarity = Mean(cosine(x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c,fi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x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c,fj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8575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聚类结果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1242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 Type 1：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洗衣、气候控制、其他设备使用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增加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3528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 Type 2：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洗衣、厨房、气候控制使用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减少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848100"/>
            <a:ext cx="5600700" cy="2914650"/>
          </a:xfrm>
          <a:custGeom>
            <a:avLst/>
            <a:gdLst/>
            <a:ahLst/>
            <a:cxnLst/>
            <a:rect l="l" t="t" r="r" b="b"/>
            <a:pathLst>
              <a:path w="5600700" h="2914650">
                <a:moveTo>
                  <a:pt x="38100" y="0"/>
                </a:moveTo>
                <a:lnTo>
                  <a:pt x="5524511" y="0"/>
                </a:lnTo>
                <a:cubicBezTo>
                  <a:pt x="5566589" y="0"/>
                  <a:pt x="5600700" y="34111"/>
                  <a:pt x="5600700" y="76189"/>
                </a:cubicBezTo>
                <a:lnTo>
                  <a:pt x="5600700" y="2838461"/>
                </a:lnTo>
                <a:cubicBezTo>
                  <a:pt x="5600700" y="2880539"/>
                  <a:pt x="5566589" y="2914650"/>
                  <a:pt x="5524511" y="2914650"/>
                </a:cubicBezTo>
                <a:lnTo>
                  <a:pt x="38100" y="2914650"/>
                </a:lnTo>
                <a:cubicBezTo>
                  <a:pt x="17058" y="2914650"/>
                  <a:pt x="0" y="2897592"/>
                  <a:pt x="0" y="2876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848100"/>
            <a:ext cx="38100" cy="2914650"/>
          </a:xfrm>
          <a:custGeom>
            <a:avLst/>
            <a:gdLst/>
            <a:ahLst/>
            <a:cxnLst/>
            <a:rect l="l" t="t" r="r" b="b"/>
            <a:pathLst>
              <a:path w="38100" h="2914650">
                <a:moveTo>
                  <a:pt x="38100" y="0"/>
                </a:moveTo>
                <a:lnTo>
                  <a:pt x="38100" y="0"/>
                </a:lnTo>
                <a:lnTo>
                  <a:pt x="38100" y="2914650"/>
                </a:lnTo>
                <a:lnTo>
                  <a:pt x="38100" y="2914650"/>
                </a:lnTo>
                <a:cubicBezTo>
                  <a:pt x="17072" y="2914650"/>
                  <a:pt x="0" y="2897578"/>
                  <a:pt x="0" y="2876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" y="40005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Attention累积聚类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43815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预处理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6482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de-minning + 归一化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9530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累积计算（公式15）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263" y="522446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225" y="53054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C(A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= 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i=1N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56959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聚类结果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9626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Late Attention：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整体能耗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增加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61912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Early Attention：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整体能耗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减少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64198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Other Attention：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稳定或波动模式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009650"/>
            <a:ext cx="5600700" cy="2800350"/>
          </a:xfrm>
          <a:custGeom>
            <a:avLst/>
            <a:gdLst/>
            <a:ahLst/>
            <a:cxnLst/>
            <a:rect l="l" t="t" r="r" b="b"/>
            <a:pathLst>
              <a:path w="5600700" h="2800350">
                <a:moveTo>
                  <a:pt x="38100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2724152"/>
                </a:lnTo>
                <a:cubicBezTo>
                  <a:pt x="5600700" y="2766235"/>
                  <a:pt x="5566585" y="2800350"/>
                  <a:pt x="5524502" y="2800350"/>
                </a:cubicBezTo>
                <a:lnTo>
                  <a:pt x="38100" y="2800350"/>
                </a:lnTo>
                <a:cubicBezTo>
                  <a:pt x="17072" y="2800350"/>
                  <a:pt x="0" y="2783278"/>
                  <a:pt x="0" y="2762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0300" y="1009650"/>
            <a:ext cx="38100" cy="2800350"/>
          </a:xfrm>
          <a:custGeom>
            <a:avLst/>
            <a:gdLst/>
            <a:ahLst/>
            <a:cxnLst/>
            <a:rect l="l" t="t" r="r" b="b"/>
            <a:pathLst>
              <a:path w="38100" h="2800350">
                <a:moveTo>
                  <a:pt x="38100" y="0"/>
                </a:moveTo>
                <a:lnTo>
                  <a:pt x="38100" y="0"/>
                </a:lnTo>
                <a:lnTo>
                  <a:pt x="38100" y="2800350"/>
                </a:lnTo>
                <a:lnTo>
                  <a:pt x="38100" y="2800350"/>
                </a:lnTo>
                <a:cubicBezTo>
                  <a:pt x="17072" y="2800350"/>
                  <a:pt x="0" y="2783278"/>
                  <a:pt x="0" y="2762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 DLP与EDP关联（表6）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6513" y="1547813"/>
            <a:ext cx="5267325" cy="2105025"/>
          </a:xfrm>
          <a:custGeom>
            <a:avLst/>
            <a:gdLst/>
            <a:ahLst/>
            <a:cxnLst/>
            <a:rect l="l" t="t" r="r" b="b"/>
            <a:pathLst>
              <a:path w="5267325" h="21050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2066924"/>
                </a:lnTo>
                <a:cubicBezTo>
                  <a:pt x="5267325" y="2087967"/>
                  <a:pt x="5250267" y="2105025"/>
                  <a:pt x="5229224" y="2105025"/>
                </a:cubicBezTo>
                <a:lnTo>
                  <a:pt x="38101" y="2105025"/>
                </a:lnTo>
                <a:cubicBezTo>
                  <a:pt x="17058" y="2105025"/>
                  <a:pt x="0" y="2087967"/>
                  <a:pt x="0" y="20669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275" y="1552575"/>
          <a:ext cx="5257800" cy="2095500"/>
        </p:xfrm>
        <a:graphic>
          <a:graphicData uri="http://schemas.openxmlformats.org/drawingml/2006/table">
            <a:tbl>
              <a:tblPr/>
              <a:tblGrid>
                <a:gridCol w="1247775"/>
                <a:gridCol w="2324100"/>
                <a:gridCol w="1685925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DLP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解释/含义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关联EDP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CAM 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洗衣、气候控制、其他设备使用增加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Peak Warning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CAM 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洗衣、厨房、气候控制使用减少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Lower / No Change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Late Attention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整体能耗增加模式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Early Attention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整体能耗减少模式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Peak Warning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Other Attention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稳定或波动模式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Significant Change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210300" y="396240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210300" y="39624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381750" y="41148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81750" y="4457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610424" y="445770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 Type 2的减少模式有助于节能和稳定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81750" y="4762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610424" y="4762500"/>
            <a:ext cx="3190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Early Attention捕获的减少模式后常跟随峰值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381750" y="5067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610424" y="5067300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Attention向量帮助理解影响特定功率状态的历史模式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5048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Experimental Setup | 数据集与评价指标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2552688"/>
                </a:lnTo>
                <a:cubicBezTo>
                  <a:pt x="5600700" y="2594779"/>
                  <a:pt x="5566579" y="2628900"/>
                  <a:pt x="5524488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06028" y="1209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UCI Individual Household Electricity 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8097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2,075,259条测量记录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0383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1分钟时间分辨率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2669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8个属性：时间、有功功率、无功功率、电压、电流、4个子计量器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571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REFIT Dataset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8384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5,733,526条测量记录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0670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8秒采样间隔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2956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11个属性：采样时间、总负载、9种不同家电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7909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7909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39433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324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74" y="43243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提取日期、月份、季节、周末信息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629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0174" y="46291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提升预测结果和可解释性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1009650"/>
            <a:ext cx="5600700" cy="2762250"/>
          </a:xfrm>
          <a:custGeom>
            <a:avLst/>
            <a:gdLst/>
            <a:ahLst/>
            <a:cxnLst/>
            <a:rect l="l" t="t" r="r" b="b"/>
            <a:pathLst>
              <a:path w="5600700" h="2762250">
                <a:moveTo>
                  <a:pt x="38100" y="0"/>
                </a:moveTo>
                <a:lnTo>
                  <a:pt x="5524490" y="0"/>
                </a:lnTo>
                <a:cubicBezTo>
                  <a:pt x="5566579" y="0"/>
                  <a:pt x="5600700" y="34121"/>
                  <a:pt x="5600700" y="76210"/>
                </a:cubicBezTo>
                <a:lnTo>
                  <a:pt x="5600700" y="2686040"/>
                </a:lnTo>
                <a:cubicBezTo>
                  <a:pt x="5600700" y="2728129"/>
                  <a:pt x="5566579" y="2762250"/>
                  <a:pt x="5524490" y="2762250"/>
                </a:cubicBezTo>
                <a:lnTo>
                  <a:pt x="38100" y="2762250"/>
                </a:lnTo>
                <a:cubicBezTo>
                  <a:pt x="17072" y="2762250"/>
                  <a:pt x="0" y="2745178"/>
                  <a:pt x="0" y="2724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0300" y="1009650"/>
            <a:ext cx="38100" cy="2762250"/>
          </a:xfrm>
          <a:custGeom>
            <a:avLst/>
            <a:gdLst/>
            <a:ahLst/>
            <a:cxnLst/>
            <a:rect l="l" t="t" r="r" b="b"/>
            <a:pathLst>
              <a:path w="38100" h="2762250">
                <a:moveTo>
                  <a:pt x="38100" y="0"/>
                </a:moveTo>
                <a:lnTo>
                  <a:pt x="38100" y="0"/>
                </a:lnTo>
                <a:lnTo>
                  <a:pt x="38100" y="2762250"/>
                </a:lnTo>
                <a:lnTo>
                  <a:pt x="38100" y="2762250"/>
                </a:lnTo>
                <a:cubicBezTo>
                  <a:pt x="17072" y="2762250"/>
                  <a:pt x="0" y="2745178"/>
                  <a:pt x="0" y="2724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5563" y="120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60082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评价指标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6513" y="15478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7475" y="16287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公式16 - MSE：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67475" y="18192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MSE = (1/n) 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i=1N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ŷ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)²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6513" y="217646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7475" y="22574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公式17 - RMSE：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67475" y="24479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RMSE = √[(1/N) 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i=1N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ŷ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)²]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6513" y="28051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7475" y="28860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公式18 - MAE：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7475" y="30765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MAE = (1/n) Σ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i=1N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|y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ŷ</a:t>
            </a:r>
            <a:pPr>
              <a:lnSpc>
                <a:spcPct val="120000"/>
              </a:lnSpc>
            </a:pPr>
            <a:r>
              <a:rPr lang="en-US" sz="788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342900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值越低表示模型性能越好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3924300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38100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752594"/>
                </a:lnTo>
                <a:cubicBezTo>
                  <a:pt x="5600700" y="1794681"/>
                  <a:pt x="5566581" y="1828800"/>
                  <a:pt x="55244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10300" y="39243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381750" y="407670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实验设置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1750" y="4457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10424" y="4457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时间分辨率：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15分钟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1750" y="4762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10424" y="47625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观测窗口：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80个时间戳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750" y="5067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10424" y="50673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预测目标：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单步 ahead (t+1)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1750" y="5372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10424" y="537210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评估方式：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多时间分辨率对比（15M, 30M, 1H, 1D）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预测性能对比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11410950" cy="4219575"/>
          </a:xfrm>
          <a:custGeom>
            <a:avLst/>
            <a:gdLst/>
            <a:ahLst/>
            <a:cxnLst/>
            <a:rect l="l" t="t" r="r" b="b"/>
            <a:pathLst>
              <a:path w="11410950" h="4219575">
                <a:moveTo>
                  <a:pt x="38100" y="0"/>
                </a:moveTo>
                <a:lnTo>
                  <a:pt x="11334744" y="0"/>
                </a:lnTo>
                <a:cubicBezTo>
                  <a:pt x="11376832" y="0"/>
                  <a:pt x="11410950" y="34118"/>
                  <a:pt x="11410950" y="76206"/>
                </a:cubicBezTo>
                <a:lnTo>
                  <a:pt x="11410950" y="4143369"/>
                </a:lnTo>
                <a:cubicBezTo>
                  <a:pt x="11410950" y="4185457"/>
                  <a:pt x="11376832" y="4219575"/>
                  <a:pt x="11334744" y="4219575"/>
                </a:cubicBezTo>
                <a:lnTo>
                  <a:pt x="38100" y="4219575"/>
                </a:lnTo>
                <a:cubicBezTo>
                  <a:pt x="17058" y="4219575"/>
                  <a:pt x="0" y="4202517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4219575"/>
          </a:xfrm>
          <a:custGeom>
            <a:avLst/>
            <a:gdLst/>
            <a:ahLst/>
            <a:cxnLst/>
            <a:rect l="l" t="t" r="r" b="b"/>
            <a:pathLst>
              <a:path w="38100" h="4219575">
                <a:moveTo>
                  <a:pt x="38100" y="0"/>
                </a:moveTo>
                <a:lnTo>
                  <a:pt x="38100" y="0"/>
                </a:lnTo>
                <a:lnTo>
                  <a:pt x="38100" y="4219575"/>
                </a:lnTo>
                <a:lnTo>
                  <a:pt x="38100" y="4219575"/>
                </a:lnTo>
                <a:cubicBezTo>
                  <a:pt x="17072" y="4219575"/>
                  <a:pt x="0" y="4202503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与不同模型类别对比（UCI数据集，15分钟分辨率）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263" y="1547813"/>
            <a:ext cx="11077575" cy="3524250"/>
          </a:xfrm>
          <a:custGeom>
            <a:avLst/>
            <a:gdLst/>
            <a:ahLst/>
            <a:cxnLst/>
            <a:rect l="l" t="t" r="r" b="b"/>
            <a:pathLst>
              <a:path w="11077575" h="3524250">
                <a:moveTo>
                  <a:pt x="38097" y="0"/>
                </a:moveTo>
                <a:lnTo>
                  <a:pt x="11039478" y="0"/>
                </a:lnTo>
                <a:cubicBezTo>
                  <a:pt x="11060504" y="0"/>
                  <a:pt x="11077575" y="17071"/>
                  <a:pt x="11077575" y="38097"/>
                </a:cubicBezTo>
                <a:lnTo>
                  <a:pt x="11077575" y="3486153"/>
                </a:lnTo>
                <a:cubicBezTo>
                  <a:pt x="11077575" y="3507193"/>
                  <a:pt x="11060518" y="3524250"/>
                  <a:pt x="11039478" y="3524250"/>
                </a:cubicBezTo>
                <a:lnTo>
                  <a:pt x="38097" y="3524250"/>
                </a:lnTo>
                <a:cubicBezTo>
                  <a:pt x="17071" y="3524250"/>
                  <a:pt x="0" y="3507179"/>
                  <a:pt x="0" y="34861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552575"/>
          <a:ext cx="11068050" cy="3514725"/>
        </p:xfrm>
        <a:graphic>
          <a:graphicData uri="http://schemas.openxmlformats.org/drawingml/2006/table">
            <a:tbl>
              <a:tblPr/>
              <a:tblGrid>
                <a:gridCol w="1971675"/>
                <a:gridCol w="4286250"/>
                <a:gridCol w="1590675"/>
                <a:gridCol w="1590675"/>
                <a:gridCol w="1628775"/>
              </a:tblGrid>
              <a:tr h="35147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模型类别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具体模型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RMSE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51473">
                <a:tc rowSpan="2"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0.01739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0.08078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47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0.02531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0.13559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0.12223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5147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Statistical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ARIMA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0.01582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0.11306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0.09022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47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Nonlinear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SINDy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0.03107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0.07701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0.04701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51473">
                <a:tc rowSpan="2"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0.02010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0.06588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0.04437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47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LSTM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0.01447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0.06102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0.03961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51473">
                <a:tc rowSpan="3"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Hybrid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S-CNN-LSTM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0.01485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0.06033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0.03895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47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S-CNN-LSTM-Att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0.01455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0.05744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0.03904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5147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P-CNN-LSTM-Att (Ours)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0.01433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0.05541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0.03628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90525" y="5391150"/>
            <a:ext cx="3686175" cy="1162050"/>
          </a:xfrm>
          <a:custGeom>
            <a:avLst/>
            <a:gdLst/>
            <a:ahLst/>
            <a:cxnLst/>
            <a:rect l="l" t="t" r="r" b="b"/>
            <a:pathLst>
              <a:path w="3686175" h="1162050">
                <a:moveTo>
                  <a:pt x="76196" y="0"/>
                </a:moveTo>
                <a:lnTo>
                  <a:pt x="3609979" y="0"/>
                </a:lnTo>
                <a:cubicBezTo>
                  <a:pt x="3652061" y="0"/>
                  <a:pt x="3686175" y="34114"/>
                  <a:pt x="3686175" y="76196"/>
                </a:cubicBezTo>
                <a:lnTo>
                  <a:pt x="3686175" y="1085854"/>
                </a:lnTo>
                <a:cubicBezTo>
                  <a:pt x="3686175" y="1127936"/>
                  <a:pt x="3652061" y="1162050"/>
                  <a:pt x="3609979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725" y="5553075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34.84%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4350" y="5972175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UCI数据集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9113" y="620077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相比S-CNN-LSTM的平均提升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51275" y="5391150"/>
            <a:ext cx="3686175" cy="1162050"/>
          </a:xfrm>
          <a:custGeom>
            <a:avLst/>
            <a:gdLst/>
            <a:ahLst/>
            <a:cxnLst/>
            <a:rect l="l" t="t" r="r" b="b"/>
            <a:pathLst>
              <a:path w="3686175" h="1162050">
                <a:moveTo>
                  <a:pt x="76196" y="0"/>
                </a:moveTo>
                <a:lnTo>
                  <a:pt x="3609979" y="0"/>
                </a:lnTo>
                <a:cubicBezTo>
                  <a:pt x="3652061" y="0"/>
                  <a:pt x="3686175" y="34114"/>
                  <a:pt x="3686175" y="76196"/>
                </a:cubicBezTo>
                <a:lnTo>
                  <a:pt x="3686175" y="1085854"/>
                </a:lnTo>
                <a:cubicBezTo>
                  <a:pt x="3686175" y="1127936"/>
                  <a:pt x="3652061" y="1162050"/>
                  <a:pt x="3609979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27475" y="5553075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13.63%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75100" y="5972175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REFIT数据集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79863" y="620077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相比S-CNN-LSTM的平均提升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12100" y="5391150"/>
            <a:ext cx="3686175" cy="1162050"/>
          </a:xfrm>
          <a:custGeom>
            <a:avLst/>
            <a:gdLst/>
            <a:ahLst/>
            <a:cxnLst/>
            <a:rect l="l" t="t" r="r" b="b"/>
            <a:pathLst>
              <a:path w="3686175" h="1162050">
                <a:moveTo>
                  <a:pt x="76196" y="0"/>
                </a:moveTo>
                <a:lnTo>
                  <a:pt x="3609979" y="0"/>
                </a:lnTo>
                <a:cubicBezTo>
                  <a:pt x="3652061" y="0"/>
                  <a:pt x="3686175" y="34114"/>
                  <a:pt x="3686175" y="76196"/>
                </a:cubicBezTo>
                <a:lnTo>
                  <a:pt x="3686175" y="1085854"/>
                </a:lnTo>
                <a:cubicBezTo>
                  <a:pt x="3686175" y="1127936"/>
                  <a:pt x="3652061" y="1162050"/>
                  <a:pt x="3609979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8300" y="5553075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35925" y="5972175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统计显著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40688" y="620077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t-test验证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不同时间分辨率性能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5467350"/>
          </a:xfrm>
          <a:custGeom>
            <a:avLst/>
            <a:gdLst/>
            <a:ahLst/>
            <a:cxnLst/>
            <a:rect l="l" t="t" r="r" b="b"/>
            <a:pathLst>
              <a:path w="5600700" h="5467350">
                <a:moveTo>
                  <a:pt x="38100" y="0"/>
                </a:moveTo>
                <a:lnTo>
                  <a:pt x="5524485" y="0"/>
                </a:lnTo>
                <a:cubicBezTo>
                  <a:pt x="5566577" y="0"/>
                  <a:pt x="5600700" y="34123"/>
                  <a:pt x="5600700" y="76215"/>
                </a:cubicBezTo>
                <a:lnTo>
                  <a:pt x="5600700" y="5391135"/>
                </a:lnTo>
                <a:cubicBezTo>
                  <a:pt x="5600700" y="5433227"/>
                  <a:pt x="5566577" y="5467350"/>
                  <a:pt x="5524485" y="5467350"/>
                </a:cubicBezTo>
                <a:lnTo>
                  <a:pt x="38100" y="5467350"/>
                </a:lnTo>
                <a:cubicBezTo>
                  <a:pt x="17072" y="5467350"/>
                  <a:pt x="0" y="5450278"/>
                  <a:pt x="0" y="542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5467350"/>
          </a:xfrm>
          <a:custGeom>
            <a:avLst/>
            <a:gdLst/>
            <a:ahLst/>
            <a:cxnLst/>
            <a:rect l="l" t="t" r="r" b="b"/>
            <a:pathLst>
              <a:path w="38100" h="5467350">
                <a:moveTo>
                  <a:pt x="38100" y="0"/>
                </a:moveTo>
                <a:lnTo>
                  <a:pt x="38100" y="0"/>
                </a:lnTo>
                <a:lnTo>
                  <a:pt x="38100" y="5467350"/>
                </a:lnTo>
                <a:lnTo>
                  <a:pt x="38100" y="5467350"/>
                </a:lnTo>
                <a:cubicBezTo>
                  <a:pt x="17072" y="5467350"/>
                  <a:pt x="0" y="5450278"/>
                  <a:pt x="0" y="542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CNN-LSTM变体对比（MSE指标）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UCI Household Dataset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6263" y="1852612"/>
            <a:ext cx="5267325" cy="1752600"/>
          </a:xfrm>
          <a:custGeom>
            <a:avLst/>
            <a:gdLst/>
            <a:ahLst/>
            <a:cxnLst/>
            <a:rect l="l" t="t" r="r" b="b"/>
            <a:pathLst>
              <a:path w="5267325" h="1752600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1714498"/>
                </a:lnTo>
                <a:cubicBezTo>
                  <a:pt x="5267325" y="1735541"/>
                  <a:pt x="5250266" y="1752600"/>
                  <a:pt x="5229223" y="1752600"/>
                </a:cubicBezTo>
                <a:lnTo>
                  <a:pt x="38102" y="1752600"/>
                </a:lnTo>
                <a:cubicBezTo>
                  <a:pt x="17059" y="1752600"/>
                  <a:pt x="0" y="1735541"/>
                  <a:pt x="0" y="17144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857375"/>
          <a:ext cx="5257800" cy="1743075"/>
        </p:xfrm>
        <a:graphic>
          <a:graphicData uri="http://schemas.openxmlformats.org/drawingml/2006/table">
            <a:tbl>
              <a:tblPr/>
              <a:tblGrid>
                <a:gridCol w="742950"/>
                <a:gridCol w="1314450"/>
                <a:gridCol w="1590675"/>
                <a:gridCol w="1609725"/>
              </a:tblGrid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分辨率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S-CNNLSTM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S-CNNLSTMAtt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P-CNNLSTMAtt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0.00364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0.00326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0.00307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0.00649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0.00636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0.00431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0.00797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0.00704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0.00386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0.00624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0.00693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0.00312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71500" y="372427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REFIT Household Dataset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6263" y="4033837"/>
            <a:ext cx="5267325" cy="1752600"/>
          </a:xfrm>
          <a:custGeom>
            <a:avLst/>
            <a:gdLst/>
            <a:ahLst/>
            <a:cxnLst/>
            <a:rect l="l" t="t" r="r" b="b"/>
            <a:pathLst>
              <a:path w="5267325" h="1752600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1714498"/>
                </a:lnTo>
                <a:cubicBezTo>
                  <a:pt x="5267325" y="1735541"/>
                  <a:pt x="5250266" y="1752600"/>
                  <a:pt x="5229223" y="1752600"/>
                </a:cubicBezTo>
                <a:lnTo>
                  <a:pt x="38102" y="1752600"/>
                </a:lnTo>
                <a:cubicBezTo>
                  <a:pt x="17059" y="1752600"/>
                  <a:pt x="0" y="1735541"/>
                  <a:pt x="0" y="17144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4038600"/>
          <a:ext cx="5257800" cy="1743075"/>
        </p:xfrm>
        <a:graphic>
          <a:graphicData uri="http://schemas.openxmlformats.org/drawingml/2006/table">
            <a:tbl>
              <a:tblPr/>
              <a:tblGrid>
                <a:gridCol w="1064871"/>
                <a:gridCol w="1892047"/>
                <a:gridCol w="2300882"/>
              </a:tblGrid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分辨率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S-CNNLSTM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P-CNNLSTMAtt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0.01485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0.01433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0.01151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0.00303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0.01823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0.00886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0.01852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0.01787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210300" y="1009650"/>
            <a:ext cx="5600700" cy="2171700"/>
          </a:xfrm>
          <a:custGeom>
            <a:avLst/>
            <a:gdLst/>
            <a:ahLst/>
            <a:cxnLst/>
            <a:rect l="l" t="t" r="r" b="b"/>
            <a:pathLst>
              <a:path w="5600700" h="21717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2095495"/>
                </a:lnTo>
                <a:cubicBezTo>
                  <a:pt x="5600700" y="2137582"/>
                  <a:pt x="5566582" y="2171700"/>
                  <a:pt x="5524495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0300" y="1009650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3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381750" y="15430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89812" y="15430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并行结构优势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89812" y="177165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在所有分辨率下均优于串行结构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81750" y="20764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589812" y="20764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注意力机制贡献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589812" y="23050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进一步提升性能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381750" y="26098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89812" y="260985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峰值检测能力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89812" y="283845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模型有效检测尖锐峰值（图5a）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210300" y="3333750"/>
            <a:ext cx="5600700" cy="1104900"/>
          </a:xfrm>
          <a:custGeom>
            <a:avLst/>
            <a:gdLst/>
            <a:ahLst/>
            <a:cxnLst/>
            <a:rect l="l" t="t" r="r" b="b"/>
            <a:pathLst>
              <a:path w="5600700" h="11049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028695"/>
                </a:lnTo>
                <a:cubicBezTo>
                  <a:pt x="5600700" y="1070782"/>
                  <a:pt x="5566582" y="1104900"/>
                  <a:pt x="552449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6210300" y="33337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5"/>
          <p:cNvSpPr/>
          <p:nvPr/>
        </p:nvSpPr>
        <p:spPr>
          <a:xfrm>
            <a:off x="6381750" y="34861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性能提升原因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381750" y="3829050"/>
            <a:ext cx="5353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并行结构能够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同时捕获更丰富和更详细的空间-时间特征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，而非串行配置中的逐步抽象，从而减少信息损失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191250" y="4591050"/>
            <a:ext cx="5619750" cy="1733550"/>
          </a:xfrm>
          <a:custGeom>
            <a:avLst/>
            <a:gdLst/>
            <a:ahLst/>
            <a:cxnLst/>
            <a:rect l="l" t="t" r="r" b="b"/>
            <a:pathLst>
              <a:path w="5619750" h="1733550">
                <a:moveTo>
                  <a:pt x="76207" y="0"/>
                </a:moveTo>
                <a:lnTo>
                  <a:pt x="5543543" y="0"/>
                </a:lnTo>
                <a:cubicBezTo>
                  <a:pt x="5585631" y="0"/>
                  <a:pt x="5619750" y="34119"/>
                  <a:pt x="5619750" y="76207"/>
                </a:cubicBezTo>
                <a:lnTo>
                  <a:pt x="5619750" y="1657343"/>
                </a:lnTo>
                <a:cubicBezTo>
                  <a:pt x="5619750" y="1699431"/>
                  <a:pt x="5585631" y="1733550"/>
                  <a:pt x="554354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pic>
        <p:nvPicPr>
          <p:cNvPr id="32" name="Image 0" descr="https://kimi-web-img.moonshot.cn/img/media.springernature.com/5faccde98ea5dae9a5891db756b473cdd436c612.png">    </p:cNvPr>
          <p:cNvPicPr>
            <a:picLocks noChangeAspect="1"/>
          </p:cNvPicPr>
          <p:nvPr/>
        </p:nvPicPr>
        <p:blipFill>
          <a:blip r:embed="rId1"/>
          <a:srcRect l="0" r="0" t="29853" b="29853"/>
          <a:stretch/>
        </p:blipFill>
        <p:spPr>
          <a:xfrm>
            <a:off x="6343650" y="4743450"/>
            <a:ext cx="5314950" cy="1428750"/>
          </a:xfrm>
          <a:prstGeom prst="roundRect">
            <a:avLst>
              <a:gd name="adj" fmla="val 2667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可解释性评估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11410950" cy="2933700"/>
          </a:xfrm>
          <a:custGeom>
            <a:avLst/>
            <a:gdLst/>
            <a:ahLst/>
            <a:cxnLst/>
            <a:rect l="l" t="t" r="r" b="b"/>
            <a:pathLst>
              <a:path w="11410950" h="2933700">
                <a:moveTo>
                  <a:pt x="38100" y="0"/>
                </a:moveTo>
                <a:lnTo>
                  <a:pt x="11334762" y="0"/>
                </a:lnTo>
                <a:cubicBezTo>
                  <a:pt x="11376839" y="0"/>
                  <a:pt x="11410950" y="34111"/>
                  <a:pt x="11410950" y="76188"/>
                </a:cubicBezTo>
                <a:lnTo>
                  <a:pt x="11410950" y="2857512"/>
                </a:lnTo>
                <a:cubicBezTo>
                  <a:pt x="11410950" y="2899589"/>
                  <a:pt x="11376839" y="2933700"/>
                  <a:pt x="11334762" y="2933700"/>
                </a:cubicBezTo>
                <a:lnTo>
                  <a:pt x="38100" y="2933700"/>
                </a:lnTo>
                <a:cubicBezTo>
                  <a:pt x="17072" y="2933700"/>
                  <a:pt x="0" y="2916628"/>
                  <a:pt x="0" y="2895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933700"/>
          </a:xfrm>
          <a:custGeom>
            <a:avLst/>
            <a:gdLst/>
            <a:ahLst/>
            <a:cxnLst/>
            <a:rect l="l" t="t" r="r" b="b"/>
            <a:pathLst>
              <a:path w="38100" h="2933700">
                <a:moveTo>
                  <a:pt x="38100" y="0"/>
                </a:moveTo>
                <a:lnTo>
                  <a:pt x="38100" y="0"/>
                </a:lnTo>
                <a:lnTo>
                  <a:pt x="38100" y="2933700"/>
                </a:lnTo>
                <a:lnTo>
                  <a:pt x="38100" y="2933700"/>
                </a:lnTo>
                <a:cubicBezTo>
                  <a:pt x="17072" y="2933700"/>
                  <a:pt x="0" y="2916628"/>
                  <a:pt x="0" y="2895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一致性评估（余弦相似度）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43050"/>
            <a:ext cx="1115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评估训练集和测试集的一致性，更高相似度表示模型在不同数据条件下保持一致的特征归因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6263" y="1852612"/>
            <a:ext cx="11077575" cy="1933575"/>
          </a:xfrm>
          <a:custGeom>
            <a:avLst/>
            <a:gdLst/>
            <a:ahLst/>
            <a:cxnLst/>
            <a:rect l="l" t="t" r="r" b="b"/>
            <a:pathLst>
              <a:path w="11077575" h="1933575">
                <a:moveTo>
                  <a:pt x="38091" y="0"/>
                </a:moveTo>
                <a:lnTo>
                  <a:pt x="11039484" y="0"/>
                </a:lnTo>
                <a:cubicBezTo>
                  <a:pt x="11060507" y="0"/>
                  <a:pt x="11077575" y="17068"/>
                  <a:pt x="11077575" y="38091"/>
                </a:cubicBezTo>
                <a:lnTo>
                  <a:pt x="11077575" y="1895484"/>
                </a:lnTo>
                <a:cubicBezTo>
                  <a:pt x="11077575" y="1916521"/>
                  <a:pt x="11060521" y="1933575"/>
                  <a:pt x="11039484" y="1933575"/>
                </a:cubicBezTo>
                <a:lnTo>
                  <a:pt x="38091" y="1933575"/>
                </a:lnTo>
                <a:cubicBezTo>
                  <a:pt x="17068" y="1933575"/>
                  <a:pt x="0" y="1916507"/>
                  <a:pt x="0" y="1895484"/>
                </a:cubicBezTo>
                <a:lnTo>
                  <a:pt x="0" y="38091"/>
                </a:lnTo>
                <a:cubicBezTo>
                  <a:pt x="0" y="17068"/>
                  <a:pt x="17068" y="0"/>
                  <a:pt x="3809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857375"/>
          <a:ext cx="11068050" cy="1924050"/>
        </p:xfrm>
        <a:graphic>
          <a:graphicData uri="http://schemas.openxmlformats.org/drawingml/2006/table">
            <a:tbl>
              <a:tblPr/>
              <a:tblGrid>
                <a:gridCol w="3733800"/>
                <a:gridCol w="2305050"/>
                <a:gridCol w="1543050"/>
                <a:gridCol w="1552575"/>
                <a:gridCol w="1933575"/>
              </a:tblGrid>
              <a:tr h="48101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EDP状态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 Variance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40000"/>
                      </a:srgbClr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Lower Than Usual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0.80629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0.69221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0.95310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0.99974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Significant Change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0.92643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0.75056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0.96091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0.99983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Peak Warning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0.96062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0.70791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0.95840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0.99940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00050" y="4095750"/>
            <a:ext cx="3686175" cy="1104900"/>
          </a:xfrm>
          <a:custGeom>
            <a:avLst/>
            <a:gdLst/>
            <a:ahLst/>
            <a:cxnLst/>
            <a:rect l="l" t="t" r="r" b="b"/>
            <a:pathLst>
              <a:path w="3686175" h="1104900">
                <a:moveTo>
                  <a:pt x="38100" y="0"/>
                </a:moveTo>
                <a:lnTo>
                  <a:pt x="3609970" y="0"/>
                </a:lnTo>
                <a:cubicBezTo>
                  <a:pt x="3652057" y="0"/>
                  <a:pt x="3686175" y="34118"/>
                  <a:pt x="3686175" y="76205"/>
                </a:cubicBezTo>
                <a:lnTo>
                  <a:pt x="3686175" y="1028695"/>
                </a:lnTo>
                <a:cubicBezTo>
                  <a:pt x="3686175" y="1070782"/>
                  <a:pt x="3652057" y="1104900"/>
                  <a:pt x="3609970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00050" y="40957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424815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最高一致性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" y="459105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本文方法在所有EDP状态下均达到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最高一致性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（&gt;0.999）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60800" y="4095750"/>
            <a:ext cx="3686175" cy="1104900"/>
          </a:xfrm>
          <a:custGeom>
            <a:avLst/>
            <a:gdLst/>
            <a:ahLst/>
            <a:cxnLst/>
            <a:rect l="l" t="t" r="r" b="b"/>
            <a:pathLst>
              <a:path w="3686175" h="1104900">
                <a:moveTo>
                  <a:pt x="38100" y="0"/>
                </a:moveTo>
                <a:lnTo>
                  <a:pt x="3609970" y="0"/>
                </a:lnTo>
                <a:cubicBezTo>
                  <a:pt x="3652057" y="0"/>
                  <a:pt x="3686175" y="34118"/>
                  <a:pt x="3686175" y="76205"/>
                </a:cubicBezTo>
                <a:lnTo>
                  <a:pt x="3686175" y="1028695"/>
                </a:lnTo>
                <a:cubicBezTo>
                  <a:pt x="3686175" y="1070782"/>
                  <a:pt x="3652057" y="1104900"/>
                  <a:pt x="3609970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60800" y="40957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432250" y="424815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鲁棒性验证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32250" y="459105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表明模型对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过拟合具有鲁棒性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，解释稳定可靠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21625" y="4095750"/>
            <a:ext cx="3686175" cy="1104900"/>
          </a:xfrm>
          <a:custGeom>
            <a:avLst/>
            <a:gdLst/>
            <a:ahLst/>
            <a:cxnLst/>
            <a:rect l="l" t="t" r="r" b="b"/>
            <a:pathLst>
              <a:path w="3686175" h="1104900">
                <a:moveTo>
                  <a:pt x="38100" y="0"/>
                </a:moveTo>
                <a:lnTo>
                  <a:pt x="3609970" y="0"/>
                </a:lnTo>
                <a:cubicBezTo>
                  <a:pt x="3652057" y="0"/>
                  <a:pt x="3686175" y="34118"/>
                  <a:pt x="3686175" y="76205"/>
                </a:cubicBezTo>
                <a:lnTo>
                  <a:pt x="3686175" y="1028695"/>
                </a:lnTo>
                <a:cubicBezTo>
                  <a:pt x="3686175" y="1070782"/>
                  <a:pt x="3652057" y="1104900"/>
                  <a:pt x="3609970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121625" y="40957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8293075" y="424815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全局解释优势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93075" y="459105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贝叶斯网络提供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稳定的全局解释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，优于局部解释方法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因果解释案例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028700"/>
            <a:ext cx="3705225" cy="4838700"/>
          </a:xfrm>
          <a:custGeom>
            <a:avLst/>
            <a:gdLst/>
            <a:ahLst/>
            <a:cxnLst/>
            <a:rect l="l" t="t" r="r" b="b"/>
            <a:pathLst>
              <a:path w="3705225" h="48387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762484"/>
                </a:lnTo>
                <a:cubicBezTo>
                  <a:pt x="3705225" y="4804577"/>
                  <a:pt x="3671102" y="4838700"/>
                  <a:pt x="3629009" y="4838700"/>
                </a:cubicBezTo>
                <a:lnTo>
                  <a:pt x="76216" y="4838700"/>
                </a:lnTo>
                <a:cubicBezTo>
                  <a:pt x="34123" y="4838700"/>
                  <a:pt x="0" y="4804577"/>
                  <a:pt x="0" y="476248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0287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20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" y="1200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2192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Peak Warning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16192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触发因素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18859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早期注意力：53%概率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21145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气候控制Very High：50%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400" y="23431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全局有功功率Very High：48%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25717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周末因素：仅33%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400" y="28765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敏感性分析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400" y="31432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气候控制设备Very High使用对峰值影响最大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344805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35242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可行动建议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37147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避免将气候控制设备设置为Very High级别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1750" y="1028700"/>
            <a:ext cx="3705225" cy="4838700"/>
          </a:xfrm>
          <a:custGeom>
            <a:avLst/>
            <a:gdLst/>
            <a:ahLst/>
            <a:cxnLst/>
            <a:rect l="l" t="t" r="r" b="b"/>
            <a:pathLst>
              <a:path w="3705225" h="48387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762484"/>
                </a:lnTo>
                <a:cubicBezTo>
                  <a:pt x="3705225" y="4804577"/>
                  <a:pt x="3671102" y="4838700"/>
                  <a:pt x="3629009" y="4838700"/>
                </a:cubicBezTo>
                <a:lnTo>
                  <a:pt x="76216" y="4838700"/>
                </a:lnTo>
                <a:cubicBezTo>
                  <a:pt x="34123" y="4838700"/>
                  <a:pt x="0" y="4804577"/>
                  <a:pt x="0" y="476248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241750" y="10287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94150" y="120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356050" y="1200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75150" y="12192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Lower Than Usual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94150" y="16192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触发因素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94150" y="18859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CAM Type 2激活：85%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94150" y="21145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电流强度降低：42%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94150" y="23431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全局有功功率降低：39%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94150" y="26479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相反因素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94150" y="29146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工作日、其他设备Very High使用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94150" y="321945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70350" y="32956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可行动建议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0350" y="34861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减少厨房、洗衣、气候控制设备使用可显著节能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575" y="1028700"/>
            <a:ext cx="3705225" cy="4838700"/>
          </a:xfrm>
          <a:custGeom>
            <a:avLst/>
            <a:gdLst/>
            <a:ahLst/>
            <a:cxnLst/>
            <a:rect l="l" t="t" r="r" b="b"/>
            <a:pathLst>
              <a:path w="3705225" h="48387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762484"/>
                </a:lnTo>
                <a:cubicBezTo>
                  <a:pt x="3705225" y="4804577"/>
                  <a:pt x="3671102" y="4838700"/>
                  <a:pt x="3629009" y="4838700"/>
                </a:cubicBezTo>
                <a:lnTo>
                  <a:pt x="76216" y="4838700"/>
                </a:lnTo>
                <a:cubicBezTo>
                  <a:pt x="34123" y="4838700"/>
                  <a:pt x="0" y="4804577"/>
                  <a:pt x="0" y="476248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8102575" y="10287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254975" y="120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8216875" y="1200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5975" y="12192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No Significant Change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54975" y="16192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稳定条件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54975" y="18859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全局有功功率稳定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54975" y="21145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电流强度稳定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54975" y="23431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Other Attention捕获稳定或波动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54975" y="26479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贡献因素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4975" y="29146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 Type 2（设备使用减少）有助于维持稳定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54975" y="321945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31175" y="32956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可行动建议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31175" y="34861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避免家电使用突然跳变以保持稳定性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533400" y="6134100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核心价值：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通过贝叶斯网络的全局解释能力，为家庭住户提供相关解释和影响，提供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可操作的见解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以避免峰值负载事件，改善消费者行为管理领域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计算开销分析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3162300"/>
          </a:xfrm>
          <a:custGeom>
            <a:avLst/>
            <a:gdLst/>
            <a:ahLst/>
            <a:cxnLst/>
            <a:rect l="l" t="t" r="r" b="b"/>
            <a:pathLst>
              <a:path w="5600700" h="3162300">
                <a:moveTo>
                  <a:pt x="38100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086089"/>
                </a:lnTo>
                <a:cubicBezTo>
                  <a:pt x="5600700" y="3128179"/>
                  <a:pt x="5566579" y="3162300"/>
                  <a:pt x="5524489" y="3162300"/>
                </a:cubicBezTo>
                <a:lnTo>
                  <a:pt x="38100" y="3162300"/>
                </a:lnTo>
                <a:cubicBezTo>
                  <a:pt x="17058" y="3162300"/>
                  <a:pt x="0" y="3145242"/>
                  <a:pt x="0" y="3124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3162300"/>
          </a:xfrm>
          <a:custGeom>
            <a:avLst/>
            <a:gdLst/>
            <a:ahLst/>
            <a:cxnLst/>
            <a:rect l="l" t="t" r="r" b="b"/>
            <a:pathLst>
              <a:path w="38100" h="3162300">
                <a:moveTo>
                  <a:pt x="38100" y="0"/>
                </a:moveTo>
                <a:lnTo>
                  <a:pt x="38100" y="0"/>
                </a:lnTo>
                <a:lnTo>
                  <a:pt x="38100" y="3162300"/>
                </a:lnTo>
                <a:lnTo>
                  <a:pt x="38100" y="3162300"/>
                </a:lnTo>
                <a:cubicBezTo>
                  <a:pt x="17072" y="3162300"/>
                  <a:pt x="0" y="3145228"/>
                  <a:pt x="0" y="3124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解释方法对比（100个样本）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263" y="1547813"/>
            <a:ext cx="5267325" cy="733425"/>
          </a:xfrm>
          <a:custGeom>
            <a:avLst/>
            <a:gdLst/>
            <a:ahLst/>
            <a:cxnLst/>
            <a:rect l="l" t="t" r="r" b="b"/>
            <a:pathLst>
              <a:path w="5267325" h="733425">
                <a:moveTo>
                  <a:pt x="38101" y="0"/>
                </a:moveTo>
                <a:lnTo>
                  <a:pt x="5229224" y="0"/>
                </a:lnTo>
                <a:cubicBezTo>
                  <a:pt x="5250252" y="0"/>
                  <a:pt x="5267325" y="17073"/>
                  <a:pt x="5267325" y="38101"/>
                </a:cubicBezTo>
                <a:lnTo>
                  <a:pt x="5267325" y="695324"/>
                </a:lnTo>
                <a:cubicBezTo>
                  <a:pt x="5267325" y="716352"/>
                  <a:pt x="5250252" y="733425"/>
                  <a:pt x="5229224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325" y="170497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SHAP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5325" y="193357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需要生成多个特征子集并重新运行预测模型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8478" y="1666875"/>
            <a:ext cx="75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~7.6h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6103" y="1971675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27,310秒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263" y="2405063"/>
            <a:ext cx="5267325" cy="733425"/>
          </a:xfrm>
          <a:custGeom>
            <a:avLst/>
            <a:gdLst/>
            <a:ahLst/>
            <a:cxnLst/>
            <a:rect l="l" t="t" r="r" b="b"/>
            <a:pathLst>
              <a:path w="5267325" h="733425">
                <a:moveTo>
                  <a:pt x="38101" y="0"/>
                </a:moveTo>
                <a:lnTo>
                  <a:pt x="5229224" y="0"/>
                </a:lnTo>
                <a:cubicBezTo>
                  <a:pt x="5250252" y="0"/>
                  <a:pt x="5267325" y="17073"/>
                  <a:pt x="5267325" y="38101"/>
                </a:cubicBezTo>
                <a:lnTo>
                  <a:pt x="5267325" y="695324"/>
                </a:lnTo>
                <a:cubicBezTo>
                  <a:pt x="5267325" y="716352"/>
                  <a:pt x="5250252" y="733425"/>
                  <a:pt x="5229224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5325" y="2562225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2790825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扰动样本并拟合替代模型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5628" y="2524125"/>
            <a:ext cx="695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~1.1h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3253" y="28289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4,034秒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3267075"/>
            <a:ext cx="5257800" cy="742950"/>
          </a:xfrm>
          <a:custGeom>
            <a:avLst/>
            <a:gdLst/>
            <a:ahLst/>
            <a:cxnLst/>
            <a:rect l="l" t="t" r="r" b="b"/>
            <a:pathLst>
              <a:path w="5257800" h="742950">
                <a:moveTo>
                  <a:pt x="38098" y="0"/>
                </a:moveTo>
                <a:lnTo>
                  <a:pt x="5219702" y="0"/>
                </a:lnTo>
                <a:cubicBezTo>
                  <a:pt x="5240743" y="0"/>
                  <a:pt x="5257800" y="17057"/>
                  <a:pt x="5257800" y="38098"/>
                </a:cubicBezTo>
                <a:lnTo>
                  <a:pt x="5257800" y="704852"/>
                </a:lnTo>
                <a:cubicBezTo>
                  <a:pt x="5257800" y="725893"/>
                  <a:pt x="5240743" y="742950"/>
                  <a:pt x="5219702" y="742950"/>
                </a:cubicBezTo>
                <a:lnTo>
                  <a:pt x="38098" y="742950"/>
                </a:lnTo>
                <a:cubicBezTo>
                  <a:pt x="17057" y="742950"/>
                  <a:pt x="0" y="725893"/>
                  <a:pt x="0" y="7048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>
              <a:alpha val="2000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850" y="34290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Ours (BN)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850" y="36576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贝叶斯网络推理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02857" y="3390900"/>
            <a:ext cx="71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35.5s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50482" y="36957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 最优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4324350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38100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752594"/>
                </a:lnTo>
                <a:cubicBezTo>
                  <a:pt x="5600700" y="1794681"/>
                  <a:pt x="5566581" y="1828800"/>
                  <a:pt x="55244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00050" y="43243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" y="44767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贝叶斯网络时间分解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6263" y="4862513"/>
            <a:ext cx="5267325" cy="390525"/>
          </a:xfrm>
          <a:custGeom>
            <a:avLst/>
            <a:gdLst/>
            <a:ahLst/>
            <a:cxnLst/>
            <a:rect l="l" t="t" r="r" b="b"/>
            <a:pathLst>
              <a:path w="5267325" h="390525">
                <a:moveTo>
                  <a:pt x="38100" y="0"/>
                </a:moveTo>
                <a:lnTo>
                  <a:pt x="5229225" y="0"/>
                </a:lnTo>
                <a:cubicBezTo>
                  <a:pt x="5250267" y="0"/>
                  <a:pt x="5267325" y="17058"/>
                  <a:pt x="5267325" y="38100"/>
                </a:cubicBezTo>
                <a:lnTo>
                  <a:pt x="5267325" y="352425"/>
                </a:lnTo>
                <a:cubicBezTo>
                  <a:pt x="5267325" y="373467"/>
                  <a:pt x="5250267" y="390525"/>
                  <a:pt x="522922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225" y="49434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64459" y="494347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433.61秒（一次性）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6263" y="5338763"/>
            <a:ext cx="5267325" cy="390525"/>
          </a:xfrm>
          <a:custGeom>
            <a:avLst/>
            <a:gdLst/>
            <a:ahLst/>
            <a:cxnLst/>
            <a:rect l="l" t="t" r="r" b="b"/>
            <a:pathLst>
              <a:path w="5267325" h="390525">
                <a:moveTo>
                  <a:pt x="38100" y="0"/>
                </a:moveTo>
                <a:lnTo>
                  <a:pt x="5229225" y="0"/>
                </a:lnTo>
                <a:cubicBezTo>
                  <a:pt x="5250267" y="0"/>
                  <a:pt x="5267325" y="17058"/>
                  <a:pt x="5267325" y="38100"/>
                </a:cubicBezTo>
                <a:lnTo>
                  <a:pt x="5267325" y="352425"/>
                </a:lnTo>
                <a:cubicBezTo>
                  <a:pt x="5267325" y="373467"/>
                  <a:pt x="5250267" y="390525"/>
                  <a:pt x="5229225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225" y="541972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推理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41615" y="5419725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1.30秒/实例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58102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结构学习仅在模型初始化时执行一次，低推理时间适合实时查询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1009650"/>
            <a:ext cx="5600700" cy="2371725"/>
          </a:xfrm>
          <a:custGeom>
            <a:avLst/>
            <a:gdLst/>
            <a:ahLst/>
            <a:cxnLst/>
            <a:rect l="l" t="t" r="r" b="b"/>
            <a:pathLst>
              <a:path w="5600700" h="2371725">
                <a:moveTo>
                  <a:pt x="38100" y="0"/>
                </a:moveTo>
                <a:lnTo>
                  <a:pt x="5524496" y="0"/>
                </a:lnTo>
                <a:cubicBezTo>
                  <a:pt x="5566583" y="0"/>
                  <a:pt x="5600700" y="34117"/>
                  <a:pt x="5600700" y="76204"/>
                </a:cubicBezTo>
                <a:lnTo>
                  <a:pt x="5600700" y="2295521"/>
                </a:lnTo>
                <a:cubicBezTo>
                  <a:pt x="5600700" y="2337608"/>
                  <a:pt x="5566583" y="2371725"/>
                  <a:pt x="5524496" y="2371725"/>
                </a:cubicBezTo>
                <a:lnTo>
                  <a:pt x="38100" y="2371725"/>
                </a:lnTo>
                <a:cubicBezTo>
                  <a:pt x="17058" y="2371725"/>
                  <a:pt x="0" y="2354667"/>
                  <a:pt x="0" y="2333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0300" y="1009650"/>
            <a:ext cx="38100" cy="2371725"/>
          </a:xfrm>
          <a:custGeom>
            <a:avLst/>
            <a:gdLst/>
            <a:ahLst/>
            <a:cxnLst/>
            <a:rect l="l" t="t" r="r" b="b"/>
            <a:pathLst>
              <a:path w="38100" h="2371725">
                <a:moveTo>
                  <a:pt x="38100" y="0"/>
                </a:moveTo>
                <a:lnTo>
                  <a:pt x="38100" y="0"/>
                </a:lnTo>
                <a:lnTo>
                  <a:pt x="38100" y="2371725"/>
                </a:lnTo>
                <a:lnTo>
                  <a:pt x="38100" y="2371725"/>
                </a:lnTo>
                <a:cubicBezTo>
                  <a:pt x="17072" y="2371725"/>
                  <a:pt x="0" y="2354653"/>
                  <a:pt x="0" y="2333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CNN-LSTM变体推理时间（1小时分辨率）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6513" y="1547813"/>
            <a:ext cx="5267325" cy="1409700"/>
          </a:xfrm>
          <a:custGeom>
            <a:avLst/>
            <a:gdLst/>
            <a:ahLst/>
            <a:cxnLst/>
            <a:rect l="l" t="t" r="r" b="b"/>
            <a:pathLst>
              <a:path w="5267325" h="1409700">
                <a:moveTo>
                  <a:pt x="38104" y="0"/>
                </a:moveTo>
                <a:lnTo>
                  <a:pt x="5229221" y="0"/>
                </a:lnTo>
                <a:cubicBezTo>
                  <a:pt x="5250265" y="0"/>
                  <a:pt x="5267325" y="17060"/>
                  <a:pt x="5267325" y="38104"/>
                </a:cubicBezTo>
                <a:lnTo>
                  <a:pt x="5267325" y="1371596"/>
                </a:lnTo>
                <a:cubicBezTo>
                  <a:pt x="5267325" y="1392640"/>
                  <a:pt x="5250265" y="1409700"/>
                  <a:pt x="5229221" y="1409700"/>
                </a:cubicBezTo>
                <a:lnTo>
                  <a:pt x="38104" y="1409700"/>
                </a:lnTo>
                <a:cubicBezTo>
                  <a:pt x="17060" y="1409700"/>
                  <a:pt x="0" y="1392640"/>
                  <a:pt x="0" y="13715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275" y="1552575"/>
          <a:ext cx="5257800" cy="1400175"/>
        </p:xfrm>
        <a:graphic>
          <a:graphicData uri="http://schemas.openxmlformats.org/drawingml/2006/table">
            <a:tbl>
              <a:tblPr/>
              <a:tblGrid>
                <a:gridCol w="2638425"/>
                <a:gridCol w="1200150"/>
                <a:gridCol w="1419225"/>
              </a:tblGrid>
              <a:tr h="35004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 (ms)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标准差 (ms)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5004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S-CNNLSTM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186.07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04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S-CNNLSTMAtt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236.64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14.88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5004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P-CNNLSTMAtt (Ours)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260.86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9.83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6381750" y="3038475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推理下一小时仅需约¼秒，时间可忽略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10300" y="3533775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210300" y="3533775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39"/>
          <p:cNvSpPr/>
          <p:nvPr/>
        </p:nvSpPr>
        <p:spPr>
          <a:xfrm>
            <a:off x="6381750" y="3686175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结论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81750" y="40290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610424" y="402907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BN推理时间可忽略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（约¼秒），远低于SHAP和LIME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81750" y="43338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610424" y="4333875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准确性与推理时间的权衡合理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，适合实际应用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81750" y="46386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610424" y="463867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贝叶斯网络是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可扩展的可解释性替代方案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371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消融实验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743200"/>
          </a:xfrm>
          <a:custGeom>
            <a:avLst/>
            <a:gdLst/>
            <a:ahLst/>
            <a:cxnLst/>
            <a:rect l="l" t="t" r="r" b="b"/>
            <a:pathLst>
              <a:path w="5600700" h="2743200">
                <a:moveTo>
                  <a:pt x="38100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2666994"/>
                </a:lnTo>
                <a:cubicBezTo>
                  <a:pt x="5600700" y="2709081"/>
                  <a:pt x="5566581" y="2743200"/>
                  <a:pt x="5524494" y="2743200"/>
                </a:cubicBezTo>
                <a:lnTo>
                  <a:pt x="38100" y="2743200"/>
                </a:lnTo>
                <a:cubicBezTo>
                  <a:pt x="17072" y="2743200"/>
                  <a:pt x="0" y="2726128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743200"/>
          </a:xfrm>
          <a:custGeom>
            <a:avLst/>
            <a:gdLst/>
            <a:ahLst/>
            <a:cxnLst/>
            <a:rect l="l" t="t" r="r" b="b"/>
            <a:pathLst>
              <a:path w="38100" h="2743200">
                <a:moveTo>
                  <a:pt x="38100" y="0"/>
                </a:moveTo>
                <a:lnTo>
                  <a:pt x="38100" y="0"/>
                </a:lnTo>
                <a:lnTo>
                  <a:pt x="38100" y="2743200"/>
                </a:lnTo>
                <a:lnTo>
                  <a:pt x="38100" y="2743200"/>
                </a:lnTo>
                <a:cubicBezTo>
                  <a:pt x="17072" y="2743200"/>
                  <a:pt x="0" y="2726128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预测模型消融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263" y="1547813"/>
            <a:ext cx="5267325" cy="1400175"/>
          </a:xfrm>
          <a:custGeom>
            <a:avLst/>
            <a:gdLst/>
            <a:ahLst/>
            <a:cxnLst/>
            <a:rect l="l" t="t" r="r" b="b"/>
            <a:pathLst>
              <a:path w="5267325" h="1400175">
                <a:moveTo>
                  <a:pt x="38099" y="0"/>
                </a:moveTo>
                <a:lnTo>
                  <a:pt x="5229226" y="0"/>
                </a:lnTo>
                <a:cubicBezTo>
                  <a:pt x="5250268" y="0"/>
                  <a:pt x="5267325" y="17057"/>
                  <a:pt x="5267325" y="38099"/>
                </a:cubicBezTo>
                <a:lnTo>
                  <a:pt x="5267325" y="1362076"/>
                </a:lnTo>
                <a:cubicBezTo>
                  <a:pt x="5267325" y="1383118"/>
                  <a:pt x="5250268" y="1400175"/>
                  <a:pt x="5229226" y="1400175"/>
                </a:cubicBezTo>
                <a:lnTo>
                  <a:pt x="38099" y="1400175"/>
                </a:lnTo>
                <a:cubicBezTo>
                  <a:pt x="17057" y="1400175"/>
                  <a:pt x="0" y="1383118"/>
                  <a:pt x="0" y="136207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1F2937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552575"/>
          <a:ext cx="5257800" cy="1390650"/>
        </p:xfrm>
        <a:graphic>
          <a:graphicData uri="http://schemas.openxmlformats.org/drawingml/2006/table">
            <a:tbl>
              <a:tblPr/>
              <a:tblGrid>
                <a:gridCol w="973313"/>
                <a:gridCol w="3311174"/>
                <a:gridCol w="973313"/>
              </a:tblGrid>
              <a:tr h="34766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模型配置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描述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p-c-l-a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完整模型（并行+CNN+LSTM+Att）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最佳 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20000"/>
                      </a:srgbClr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p-c-l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移除Attention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轻微下降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s-c-l-a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串行配置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显著下降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71500" y="3067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0174" y="3067050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 &gt; 串行结构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：捕获更好的模式，减少抽象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3371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0174" y="337185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Attention机制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：边际但积极的贡献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0050" y="3905250"/>
            <a:ext cx="5600700" cy="2171700"/>
          </a:xfrm>
          <a:custGeom>
            <a:avLst/>
            <a:gdLst/>
            <a:ahLst/>
            <a:cxnLst/>
            <a:rect l="l" t="t" r="r" b="b"/>
            <a:pathLst>
              <a:path w="5600700" h="21717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2095495"/>
                </a:lnTo>
                <a:cubicBezTo>
                  <a:pt x="5600700" y="2137582"/>
                  <a:pt x="5566582" y="2171700"/>
                  <a:pt x="5524495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3"/>
          <p:cNvSpPr/>
          <p:nvPr/>
        </p:nvSpPr>
        <p:spPr>
          <a:xfrm>
            <a:off x="400050" y="3905250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40576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解释模块消融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" y="44386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包含DLP的BN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" y="4705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更高相似度分数，更稳定一致的解释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1500" y="50101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不含DLP的BN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1500" y="52768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解释稳定性降低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1500" y="5581650"/>
            <a:ext cx="5276850" cy="342900"/>
          </a:xfrm>
          <a:custGeom>
            <a:avLst/>
            <a:gdLst/>
            <a:ahLst/>
            <a:cxnLst/>
            <a:rect l="l" t="t" r="r" b="b"/>
            <a:pathLst>
              <a:path w="5276850" h="342900">
                <a:moveTo>
                  <a:pt x="38100" y="0"/>
                </a:moveTo>
                <a:lnTo>
                  <a:pt x="5238750" y="0"/>
                </a:lnTo>
                <a:cubicBezTo>
                  <a:pt x="5259792" y="0"/>
                  <a:pt x="5276850" y="17058"/>
                  <a:pt x="5276850" y="38100"/>
                </a:cubicBezTo>
                <a:lnTo>
                  <a:pt x="5276850" y="304800"/>
                </a:lnTo>
                <a:cubicBezTo>
                  <a:pt x="5276850" y="325842"/>
                  <a:pt x="5259792" y="342900"/>
                  <a:pt x="5238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47700" y="565785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结论：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DLP整合提升解释一致性和稳定性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0300" y="1009650"/>
            <a:ext cx="5600700" cy="2400300"/>
          </a:xfrm>
          <a:custGeom>
            <a:avLst/>
            <a:gdLst/>
            <a:ahLst/>
            <a:cxnLst/>
            <a:rect l="l" t="t" r="r" b="b"/>
            <a:pathLst>
              <a:path w="5600700" h="2400300">
                <a:moveTo>
                  <a:pt x="38100" y="0"/>
                </a:moveTo>
                <a:lnTo>
                  <a:pt x="5524490" y="0"/>
                </a:lnTo>
                <a:cubicBezTo>
                  <a:pt x="5566580" y="0"/>
                  <a:pt x="5600700" y="34120"/>
                  <a:pt x="5600700" y="76210"/>
                </a:cubicBezTo>
                <a:lnTo>
                  <a:pt x="5600700" y="2324090"/>
                </a:lnTo>
                <a:cubicBezTo>
                  <a:pt x="5600700" y="2366180"/>
                  <a:pt x="5566580" y="2400300"/>
                  <a:pt x="5524490" y="2400300"/>
                </a:cubicBez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2"/>
          <p:cNvSpPr/>
          <p:nvPr/>
        </p:nvSpPr>
        <p:spPr>
          <a:xfrm>
            <a:off x="6210300" y="1009650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3810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 离散状态数量影响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8175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实验发现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8175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离散状态增加 → 性能轻微提升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81750" y="2038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但过多状态损害可解释性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81750" y="22669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解释变得更难理解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81750" y="2571750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3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496050" y="2686050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建议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96050" y="295275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保持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适度离散状态数量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，在准确性和可解释性之间取得平衡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10300" y="3562350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3810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210300" y="356235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3810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381750" y="37147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消融实验总结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81750" y="40957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589812" y="40957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并行结构是关键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589812" y="43243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相比串行配置显著提升性能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381750" y="45910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89812" y="459105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Attention有正向作用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589812" y="481965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虽然边际但积极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81750" y="50863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89812" y="50863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DLP增强解释稳定性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89812" y="53149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深度学习参数整合至关重要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81750" y="558165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589812" y="55816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离散化需要权衡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89812" y="581025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准确性与可解释性的平衡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65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 | 模型鲁棒性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5467350"/>
          </a:xfrm>
          <a:custGeom>
            <a:avLst/>
            <a:gdLst/>
            <a:ahLst/>
            <a:cxnLst/>
            <a:rect l="l" t="t" r="r" b="b"/>
            <a:pathLst>
              <a:path w="5600700" h="5467350">
                <a:moveTo>
                  <a:pt x="38100" y="0"/>
                </a:moveTo>
                <a:lnTo>
                  <a:pt x="5524485" y="0"/>
                </a:lnTo>
                <a:cubicBezTo>
                  <a:pt x="5566577" y="0"/>
                  <a:pt x="5600700" y="34123"/>
                  <a:pt x="5600700" y="76215"/>
                </a:cubicBezTo>
                <a:lnTo>
                  <a:pt x="5600700" y="5391135"/>
                </a:lnTo>
                <a:cubicBezTo>
                  <a:pt x="5600700" y="5433227"/>
                  <a:pt x="5566577" y="5467350"/>
                  <a:pt x="5524485" y="5467350"/>
                </a:cubicBezTo>
                <a:lnTo>
                  <a:pt x="38100" y="5467350"/>
                </a:lnTo>
                <a:cubicBezTo>
                  <a:pt x="17072" y="5467350"/>
                  <a:pt x="0" y="5450278"/>
                  <a:pt x="0" y="542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5467350"/>
          </a:xfrm>
          <a:custGeom>
            <a:avLst/>
            <a:gdLst/>
            <a:ahLst/>
            <a:cxnLst/>
            <a:rect l="l" t="t" r="r" b="b"/>
            <a:pathLst>
              <a:path w="38100" h="5467350">
                <a:moveTo>
                  <a:pt x="38100" y="0"/>
                </a:moveTo>
                <a:lnTo>
                  <a:pt x="38100" y="0"/>
                </a:lnTo>
                <a:lnTo>
                  <a:pt x="38100" y="5467350"/>
                </a:lnTo>
                <a:lnTo>
                  <a:pt x="38100" y="5467350"/>
                </a:lnTo>
                <a:cubicBezTo>
                  <a:pt x="17072" y="5467350"/>
                  <a:pt x="0" y="5450278"/>
                  <a:pt x="0" y="542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噪声鲁棒性实验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实验设置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在输入值中引入不同级别的噪声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38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测量预测误差的相对增长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2669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误差越高表示对噪声越敏感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571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实验结果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263" y="28432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225" y="29241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串行模型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1146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s-cnn-lstm-att 和 s-cnn-lstm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对噪声更鲁棒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263" y="347186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225" y="35528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并行模型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37433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p-cnn-lstm-att 对噪声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相对敏感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263" y="4100513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38102" y="0"/>
                </a:moveTo>
                <a:lnTo>
                  <a:pt x="5229223" y="0"/>
                </a:lnTo>
                <a:cubicBezTo>
                  <a:pt x="5250266" y="0"/>
                  <a:pt x="5267325" y="17059"/>
                  <a:pt x="5267325" y="38102"/>
                </a:cubicBezTo>
                <a:lnTo>
                  <a:pt x="5267325" y="504823"/>
                </a:lnTo>
                <a:cubicBezTo>
                  <a:pt x="5267325" y="525866"/>
                  <a:pt x="5250266" y="542925"/>
                  <a:pt x="5229223" y="542925"/>
                </a:cubicBezTo>
                <a:lnTo>
                  <a:pt x="38102" y="542925"/>
                </a:lnTo>
                <a:cubicBezTo>
                  <a:pt x="17059" y="542925"/>
                  <a:pt x="0" y="525866"/>
                  <a:pt x="0" y="5048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225" y="41814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Attention机制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225" y="43719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添加Attention可改善性能，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有助于缓解噪声影响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009650"/>
            <a:ext cx="5600700" cy="2171700"/>
          </a:xfrm>
          <a:custGeom>
            <a:avLst/>
            <a:gdLst/>
            <a:ahLst/>
            <a:cxnLst/>
            <a:rect l="l" t="t" r="r" b="b"/>
            <a:pathLst>
              <a:path w="5600700" h="21717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2095495"/>
                </a:lnTo>
                <a:cubicBezTo>
                  <a:pt x="5600700" y="2137582"/>
                  <a:pt x="5566582" y="2171700"/>
                  <a:pt x="5524495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0300" y="1009650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结果分析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1750" y="154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10424" y="15430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并行结构的代价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0424" y="177165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捕获更丰富特征，但也更易受噪声影响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1750" y="2076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10424" y="207645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Attention的缓解作用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10424" y="230505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有助于缓解噪声影响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1750" y="2609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10424" y="26098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权衡考虑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10424" y="2838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实际应用中需权衡准确性和鲁棒性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33337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10300" y="33337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381750" y="34861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实际应用建议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3867150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0063" y="386715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对噪声敏感场景可考虑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数据预处理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（平滑、滤波）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1750" y="417195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99560" y="417195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结合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Attention机制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提升鲁棒性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1750" y="447675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99411" y="44767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根据应用需求选择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并行或串行结构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426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Analysis &amp; Discussion | 结果分析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1962150"/>
          </a:xfrm>
          <a:custGeom>
            <a:avLst/>
            <a:gdLst/>
            <a:ahLst/>
            <a:cxnLst/>
            <a:rect l="l" t="t" r="r" b="b"/>
            <a:pathLst>
              <a:path w="5600700" h="1962150">
                <a:moveTo>
                  <a:pt x="38100" y="0"/>
                </a:moveTo>
                <a:lnTo>
                  <a:pt x="5524510" y="0"/>
                </a:lnTo>
                <a:cubicBezTo>
                  <a:pt x="5566560" y="0"/>
                  <a:pt x="5600700" y="34140"/>
                  <a:pt x="5600700" y="76190"/>
                </a:cubicBezTo>
                <a:lnTo>
                  <a:pt x="5600700" y="1885960"/>
                </a:lnTo>
                <a:cubicBezTo>
                  <a:pt x="5600700" y="1928010"/>
                  <a:pt x="5566560" y="1962150"/>
                  <a:pt x="5524510" y="1962150"/>
                </a:cubicBezTo>
                <a:lnTo>
                  <a:pt x="38100" y="1962150"/>
                </a:lnTo>
                <a:cubicBezTo>
                  <a:pt x="17072" y="1962150"/>
                  <a:pt x="0" y="1945078"/>
                  <a:pt x="0" y="1924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1962150"/>
          </a:xfrm>
          <a:custGeom>
            <a:avLst/>
            <a:gdLst/>
            <a:ahLst/>
            <a:cxnLst/>
            <a:rect l="l" t="t" r="r" b="b"/>
            <a:pathLst>
              <a:path w="38100" h="1962150">
                <a:moveTo>
                  <a:pt x="38100" y="0"/>
                </a:moveTo>
                <a:lnTo>
                  <a:pt x="38100" y="0"/>
                </a:lnTo>
                <a:lnTo>
                  <a:pt x="38100" y="1962150"/>
                </a:lnTo>
                <a:lnTo>
                  <a:pt x="38100" y="1962150"/>
                </a:lnTo>
                <a:cubicBezTo>
                  <a:pt x="17072" y="1962150"/>
                  <a:pt x="0" y="1945078"/>
                  <a:pt x="0" y="1924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5313" y="120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预测性能复现 - 一致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5430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3219" y="1543050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并行CNN-LSTM-attention在所有时间分辨率下均优于串行配置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18478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3219" y="18478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注意力机制对性能提升有边际但积极的贡献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1526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219" y="2152650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在UCI和REFIT数据集上均取得最佳性能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6263" y="246221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225" y="25431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复现结论：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0166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预测性能与论文报告高度一致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124200"/>
            <a:ext cx="5600700" cy="1962150"/>
          </a:xfrm>
          <a:custGeom>
            <a:avLst/>
            <a:gdLst/>
            <a:ahLst/>
            <a:cxnLst/>
            <a:rect l="l" t="t" r="r" b="b"/>
            <a:pathLst>
              <a:path w="5600700" h="1962150">
                <a:moveTo>
                  <a:pt x="38100" y="0"/>
                </a:moveTo>
                <a:lnTo>
                  <a:pt x="5524510" y="0"/>
                </a:lnTo>
                <a:cubicBezTo>
                  <a:pt x="5566560" y="0"/>
                  <a:pt x="5600700" y="34140"/>
                  <a:pt x="5600700" y="76190"/>
                </a:cubicBezTo>
                <a:lnTo>
                  <a:pt x="5600700" y="1885960"/>
                </a:lnTo>
                <a:cubicBezTo>
                  <a:pt x="5600700" y="1928010"/>
                  <a:pt x="5566560" y="1962150"/>
                  <a:pt x="5524510" y="1962150"/>
                </a:cubicBezTo>
                <a:lnTo>
                  <a:pt x="38100" y="1962150"/>
                </a:lnTo>
                <a:cubicBezTo>
                  <a:pt x="17072" y="1962150"/>
                  <a:pt x="0" y="1945078"/>
                  <a:pt x="0" y="1924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124200"/>
            <a:ext cx="38100" cy="1962150"/>
          </a:xfrm>
          <a:custGeom>
            <a:avLst/>
            <a:gdLst/>
            <a:ahLst/>
            <a:cxnLst/>
            <a:rect l="l" t="t" r="r" b="b"/>
            <a:pathLst>
              <a:path w="38100" h="1962150">
                <a:moveTo>
                  <a:pt x="38100" y="0"/>
                </a:moveTo>
                <a:lnTo>
                  <a:pt x="38100" y="0"/>
                </a:lnTo>
                <a:lnTo>
                  <a:pt x="38100" y="1962150"/>
                </a:lnTo>
                <a:lnTo>
                  <a:pt x="38100" y="1962150"/>
                </a:lnTo>
                <a:cubicBezTo>
                  <a:pt x="17072" y="1962150"/>
                  <a:pt x="0" y="1945078"/>
                  <a:pt x="0" y="1924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5313" y="3324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1" name="Text 19"/>
          <p:cNvSpPr/>
          <p:nvPr/>
        </p:nvSpPr>
        <p:spPr>
          <a:xfrm>
            <a:off x="790575" y="32766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可解释性评估复现 - 一致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65760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3219" y="365760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贝叶斯网络一致性显著高于SHAP和LIME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396240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3219" y="39624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DLP整合提升解释稳定性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26720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3219" y="42672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三种EDP状态的因果解释符合领域知识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6263" y="457676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225" y="46577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复现结论：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0166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可解释性评估结果与论文一致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100965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581145"/>
                </a:lnTo>
                <a:cubicBezTo>
                  <a:pt x="5600700" y="1623232"/>
                  <a:pt x="5566582" y="1657350"/>
                  <a:pt x="552449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0300" y="10096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5563" y="120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33" name="Text 31"/>
          <p:cNvSpPr/>
          <p:nvPr/>
        </p:nvSpPr>
        <p:spPr>
          <a:xfrm>
            <a:off x="660082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计算效率复现 - 一致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1750" y="15430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63469" y="15430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BN推理时间远低于SHAP和LIME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18478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3469" y="18478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结构学习一次性成本，推理效率高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6513" y="215741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7475" y="223837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复现结论：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01663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计算效率优势得到验证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281940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581145"/>
                </a:lnTo>
                <a:cubicBezTo>
                  <a:pt x="5600700" y="1623232"/>
                  <a:pt x="5566582" y="1657350"/>
                  <a:pt x="552449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0300" y="28194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5563" y="3019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00825" y="29718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可能的偏差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1750" y="335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087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⚠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10424" y="33528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绝对数值差异：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可能存在微小差异（实现细节、随机种子等）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75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087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⚠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10424" y="365760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相对性能一致：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性能排序和趋势高度一致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6513" y="3967163"/>
            <a:ext cx="5267325" cy="352425"/>
          </a:xfrm>
          <a:custGeom>
            <a:avLst/>
            <a:gdLst/>
            <a:ahLst/>
            <a:cxnLst/>
            <a:rect l="l" t="t" r="r" b="b"/>
            <a:pathLst>
              <a:path w="5267325" h="3524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314324"/>
                </a:lnTo>
                <a:cubicBezTo>
                  <a:pt x="5267325" y="335367"/>
                  <a:pt x="5250267" y="352425"/>
                  <a:pt x="522922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EFCE8"/>
          </a:solidFill>
          <a:ln w="12700">
            <a:solidFill>
              <a:srgbClr val="FFF0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67475" y="4048125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94B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偏差评估：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94B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在可接受范围内，不影响主要结论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0050" y="579120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609601"/>
                </a:lnTo>
                <a:cubicBezTo>
                  <a:pt x="11410950" y="651684"/>
                  <a:pt x="11376834" y="685800"/>
                  <a:pt x="113347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0050" y="5791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533400" y="5905500"/>
            <a:ext cx="1123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总体评估：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复现工作成功验证了论文的主要结论，预测性能、可解释性和计算效率均与论文报告高度一致。绝对数值的微小偏差在合理范围内，不影响对论文方法有效性的判断。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426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Analysis &amp; Discussion | 偏差分析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 数据预处理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4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74" y="15430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归一化方法：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具体实现细节可能不同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84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74" y="18478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缺失值处理：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策略选择影响结果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1526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174" y="21526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特征工程：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季节、周末等提取的细节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6860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26860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28384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 模型实现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3219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74" y="3219450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框架版本：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PyTorch/TensorFlow版本差异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3524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0174" y="35242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优化器参数：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学习率调度、早停策略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829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74" y="382905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权重初始化：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不同初始化方法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0096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0300" y="10096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381750" y="11620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 贝叶斯网络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1750" y="154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0424" y="154305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结构学习算法：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具体实现差异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1750" y="184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10424" y="18478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领域知识编码：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精确性影响结构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1750" y="21526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10424" y="21526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离散化边界：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分位数计算的细节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0300" y="26860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0300" y="26860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381750" y="28384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4. 随机性因素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32194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10424" y="32194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随机种子：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未固定或不同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3524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10424" y="352425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数据划分：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训练/测试集划分方式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1750" y="3829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10424" y="382905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K-means聚类：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随机性影响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0050" y="5372100"/>
            <a:ext cx="11410950" cy="1104900"/>
          </a:xfrm>
          <a:custGeom>
            <a:avLst/>
            <a:gdLst/>
            <a:ahLst/>
            <a:cxnLst/>
            <a:rect l="l" t="t" r="r" b="b"/>
            <a:pathLst>
              <a:path w="11410950" h="11049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028695"/>
                </a:lnTo>
                <a:cubicBezTo>
                  <a:pt x="11410950" y="1070782"/>
                  <a:pt x="11376832" y="1104900"/>
                  <a:pt x="113347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571500" y="552450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缓解策略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" y="59055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6476" y="5905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多次实验取平均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36476" y="61341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减少随机性影响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17950" y="59055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7334" y="59055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固定随机种子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07334" y="61341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确保可复现性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64475" y="59055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53710" y="5905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详细记录超参数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53710" y="61341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便于对比分析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4133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Issues &amp; Insights | 复现中的问题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2552688"/>
                </a:lnTo>
                <a:cubicBezTo>
                  <a:pt x="5600700" y="2594779"/>
                  <a:pt x="5566579" y="2628900"/>
                  <a:pt x="5524488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84597" y="12096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难以完全复现的环节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贝叶斯网络结构学习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论文使用Genie Academic v4.1软件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038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开源替代方案（pgmpy、bntoolbox）可能产生不同结构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2669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领域知识的形式化编码需要仔细调整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571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深度学习参数解释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8384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CAM提取的具体层选择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0670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余弦相似度阈值的选择（论文使用0.5）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2956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聚类数k的确定（肘部法则的主观性）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790950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3810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79095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5313" y="3990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0575" y="39433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方法局限性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324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74" y="432435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仅支持单步预测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0174" y="455295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(t+1)，未探索多步预测 (t+n)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48196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0174" y="48196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需要针对特定数据集调整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0174" y="504825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贝叶斯网络结构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5314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0174" y="53149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不同建筑类型和区域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0174" y="554355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需要重新训练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1009650"/>
            <a:ext cx="5600700" cy="1600200"/>
          </a:xfrm>
          <a:custGeom>
            <a:avLst/>
            <a:gdLst/>
            <a:ahLst/>
            <a:cxnLst/>
            <a:rect l="l" t="t" r="r" b="b"/>
            <a:pathLst>
              <a:path w="5600700" h="16002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1523998"/>
                </a:lnTo>
                <a:cubicBezTo>
                  <a:pt x="5600700" y="1566083"/>
                  <a:pt x="5566583" y="1600200"/>
                  <a:pt x="552449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0300" y="100965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416278" y="1209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60082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计算资源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154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10424" y="15430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结构学习耗时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10424" y="17716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在大数据集上耗时较长（~433秒）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2038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10424" y="20383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内存需求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10424" y="22669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并行模型比串行模型需要更多内存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0300" y="2762250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38100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752594"/>
                </a:lnTo>
                <a:cubicBezTo>
                  <a:pt x="5600700" y="1794681"/>
                  <a:pt x="5566581" y="1828800"/>
                  <a:pt x="55244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10300" y="27622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381750" y="29146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问题总结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1750" y="3295650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80063" y="32956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软件依赖：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商业软件难以完全复现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750" y="360045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99560" y="36004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超参数敏感：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阈值和参数选择影响结果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1750" y="390525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99411" y="390525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泛化能力：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需要针对新数据重新调整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1750" y="421005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99411" y="42100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计算成本：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结构学习和模型复杂度较高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499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Issues &amp; Insights | 研究思考与改进方向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2552688"/>
                </a:lnTo>
                <a:cubicBezTo>
                  <a:pt x="5600700" y="2594779"/>
                  <a:pt x="5566579" y="2628900"/>
                  <a:pt x="5524488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16744" y="12096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对论文方法的理解深化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并行结构的价值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不仅提升性能，还为解释提供更多独立特征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038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CNN和LSTM分别捕获不同模式，便于归因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2669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减少串行结构中的信息抽象损失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571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因果解释的优势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8384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相比相关性，因果性能提供可行动建议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0670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结合领域知识使解释更符合人类认知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2956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全局解释优于局部解释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79095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2552688"/>
                </a:lnTo>
                <a:cubicBezTo>
                  <a:pt x="5600700" y="2594779"/>
                  <a:pt x="5566579" y="2628900"/>
                  <a:pt x="5524488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79095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6744" y="3990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71862" y="5827"/>
                </a:moveTo>
                <a:cubicBezTo>
                  <a:pt x="67676" y="1641"/>
                  <a:pt x="60878" y="1641"/>
                  <a:pt x="56692" y="5827"/>
                </a:cubicBezTo>
                <a:lnTo>
                  <a:pt x="3114" y="59405"/>
                </a:lnTo>
                <a:cubicBezTo>
                  <a:pt x="-1072" y="63591"/>
                  <a:pt x="-1072" y="70388"/>
                  <a:pt x="3114" y="74574"/>
                </a:cubicBezTo>
                <a:cubicBezTo>
                  <a:pt x="7300" y="78760"/>
                  <a:pt x="14098" y="78760"/>
                  <a:pt x="18284" y="74574"/>
                </a:cubicBezTo>
                <a:lnTo>
                  <a:pt x="53578" y="39279"/>
                </a:lnTo>
                <a:lnTo>
                  <a:pt x="53578" y="163413"/>
                </a:lnTo>
                <a:cubicBezTo>
                  <a:pt x="53578" y="169340"/>
                  <a:pt x="58367" y="174129"/>
                  <a:pt x="64294" y="174129"/>
                </a:cubicBezTo>
                <a:cubicBezTo>
                  <a:pt x="70221" y="174129"/>
                  <a:pt x="75009" y="169340"/>
                  <a:pt x="75009" y="163413"/>
                </a:cubicBezTo>
                <a:lnTo>
                  <a:pt x="75009" y="39279"/>
                </a:lnTo>
                <a:lnTo>
                  <a:pt x="110304" y="74574"/>
                </a:lnTo>
                <a:cubicBezTo>
                  <a:pt x="114490" y="78760"/>
                  <a:pt x="121287" y="78760"/>
                  <a:pt x="125473" y="74574"/>
                </a:cubicBezTo>
                <a:cubicBezTo>
                  <a:pt x="129659" y="70388"/>
                  <a:pt x="129659" y="63591"/>
                  <a:pt x="125473" y="59405"/>
                </a:cubicBezTo>
                <a:lnTo>
                  <a:pt x="71895" y="582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0575" y="39433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潜在改进方向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3243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模型改进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5910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引入Transformer架构替代LSTM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48196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探索多步预测（t+n）的因果解释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50482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自适应离散化方法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535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解释增强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61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自动化结构学习减少人工干预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5848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动态网络结构处理新数据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60769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可视化工具提升用户体验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100965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2552688"/>
                </a:lnTo>
                <a:cubicBezTo>
                  <a:pt x="5600700" y="2594779"/>
                  <a:pt x="5566579" y="2628900"/>
                  <a:pt x="5524488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0300" y="100965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5563" y="120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60082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后续研究可能性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1750" y="15430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跨领域应用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18097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生物医学：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患者状态预测与解释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20383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工业监控：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复杂系统参数变化解释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1750" y="22669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金融预测：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市场趋势因果分析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257175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技术融合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1750" y="28384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结合大语言模型生成自然语言解释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1750" y="30670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强化学习优化能源管理策略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1750" y="329565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多模态数据融合（图像+时序）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0300" y="3790950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38100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752594"/>
                </a:lnTo>
                <a:cubicBezTo>
                  <a:pt x="5600700" y="1794681"/>
                  <a:pt x="5566581" y="1828800"/>
                  <a:pt x="55244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10300" y="37909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381750" y="39433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研究启示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1750" y="4324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10424" y="4324350"/>
            <a:ext cx="421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可解释AI的重要性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在关键领域（能源、医疗、金融）日益凸显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1750" y="4629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10424" y="46291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因果推理与深度学习的结合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是重要研究方向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1750" y="4933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10424" y="49339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领域知识整合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提升模型可信度和实用性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750" y="5238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10424" y="523875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性能与可解释性的平衡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是实际应用的关键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00050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 | 总结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009650"/>
            <a:ext cx="5600700" cy="2247900"/>
          </a:xfrm>
          <a:custGeom>
            <a:avLst/>
            <a:gdLst/>
            <a:ahLst/>
            <a:cxnLst/>
            <a:rect l="l" t="t" r="r" b="b"/>
            <a:pathLst>
              <a:path w="5600700" h="2247900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2171696"/>
                </a:lnTo>
                <a:cubicBezTo>
                  <a:pt x="5600700" y="2213782"/>
                  <a:pt x="5566582" y="2247900"/>
                  <a:pt x="5524496" y="2247900"/>
                </a:cubicBez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00965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3810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16744" y="12096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复现成果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5430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3219" y="154305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成功复现了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并行CNN-LSTM-attention预测模型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18478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3219" y="18478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实现了基于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贝叶斯网络的因果解释框架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1526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219" y="21526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验证了论文主要结论：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" y="245745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预测性能提升（UCI: 34.84%, REFIT: 13.63%）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100" y="268605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解释一致性显著优于SHAP和LIME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0100" y="291465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计算效率优势明显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0300" y="1009650"/>
            <a:ext cx="5600700" cy="2247900"/>
          </a:xfrm>
          <a:custGeom>
            <a:avLst/>
            <a:gdLst/>
            <a:ahLst/>
            <a:cxnLst/>
            <a:rect l="l" t="t" r="r" b="b"/>
            <a:pathLst>
              <a:path w="5600700" h="2247900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2171696"/>
                </a:lnTo>
                <a:cubicBezTo>
                  <a:pt x="5600700" y="2213782"/>
                  <a:pt x="5566582" y="2247900"/>
                  <a:pt x="5524496" y="2247900"/>
                </a:cubicBez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0300" y="100965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3810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394847" y="12096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00825" y="1162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方法贡献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0" y="15430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0424" y="1547813"/>
            <a:ext cx="42349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首次将深度学习参数（CAM、Attention）与贝叶斯网络结合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81750" y="184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10424" y="18478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提供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因果解释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而非仅相关性分析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1750" y="21526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0424" y="21526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为能源管理提供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可行动建议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34099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34099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16744" y="3609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32" name="Text 30"/>
          <p:cNvSpPr/>
          <p:nvPr/>
        </p:nvSpPr>
        <p:spPr>
          <a:xfrm>
            <a:off x="790575" y="35623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复现支持论文结论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39433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219" y="39433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并行结构确实优于串行结构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" y="42481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3219" y="42481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因果解释框架有效且高效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4552950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3219" y="45529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方法在家庭能源消费领域具有实际应用价值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34099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47800"/>
                </a:lnTo>
                <a:cubicBezTo>
                  <a:pt x="5600700" y="1489856"/>
                  <a:pt x="5566556" y="1524000"/>
                  <a:pt x="55245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10300" y="34099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5563" y="3609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600825" y="35623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未来启示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3943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10424" y="39433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可解释AI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在关键领域的重要性日益凸显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1750" y="4248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10424" y="42481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因果推理与深度学习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的结合是重要研究方向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1750" y="45529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10424" y="45529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领域知识整合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提升模型可信度和实用性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90525" y="5095875"/>
            <a:ext cx="11410950" cy="781050"/>
          </a:xfrm>
          <a:custGeom>
            <a:avLst/>
            <a:gdLst/>
            <a:ahLst/>
            <a:cxnLst/>
            <a:rect l="l" t="t" r="r" b="b"/>
            <a:pathLst>
              <a:path w="11410950" h="781050">
                <a:moveTo>
                  <a:pt x="76199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704851"/>
                </a:lnTo>
                <a:cubicBezTo>
                  <a:pt x="11410950" y="746934"/>
                  <a:pt x="11376834" y="781050"/>
                  <a:pt x="1133475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4350" y="5257800"/>
            <a:ext cx="1116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总结：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次复现工作成功验证了论文提出的因果可解释AI方法在能源需求预测中的有效性和实用性。该方法不仅提供了准确的预测，还通过因果解释框架为用户提供了可操作的节能建议，具有重要的理论价值和实际应用意义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springernature.com/0655a8527f233bd21f3c70834f88df12ba2f5c60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4296" r="429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726" y="10382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895901" y="126682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88263" y="62597"/>
                </a:moveTo>
                <a:cubicBezTo>
                  <a:pt x="401032" y="71884"/>
                  <a:pt x="403890" y="89743"/>
                  <a:pt x="394603" y="102513"/>
                </a:cubicBezTo>
                <a:lnTo>
                  <a:pt x="166003" y="416838"/>
                </a:lnTo>
                <a:cubicBezTo>
                  <a:pt x="161092" y="423624"/>
                  <a:pt x="153501" y="427821"/>
                  <a:pt x="145107" y="428536"/>
                </a:cubicBezTo>
                <a:cubicBezTo>
                  <a:pt x="136714" y="429250"/>
                  <a:pt x="128588" y="426125"/>
                  <a:pt x="122694" y="420231"/>
                </a:cubicBezTo>
                <a:lnTo>
                  <a:pt x="8394" y="305931"/>
                </a:lnTo>
                <a:cubicBezTo>
                  <a:pt x="-2768" y="294769"/>
                  <a:pt x="-2768" y="276642"/>
                  <a:pt x="8394" y="265480"/>
                </a:cubicBezTo>
                <a:cubicBezTo>
                  <a:pt x="19556" y="254318"/>
                  <a:pt x="37683" y="254318"/>
                  <a:pt x="48845" y="265480"/>
                </a:cubicBezTo>
                <a:lnTo>
                  <a:pt x="139482" y="356116"/>
                </a:lnTo>
                <a:lnTo>
                  <a:pt x="348436" y="68848"/>
                </a:lnTo>
                <a:cubicBezTo>
                  <a:pt x="357723" y="56078"/>
                  <a:pt x="375583" y="53221"/>
                  <a:pt x="388352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853508" y="2181225"/>
            <a:ext cx="248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10658" y="2790825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941838" y="3448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6"/>
          <p:cNvSpPr/>
          <p:nvPr/>
        </p:nvSpPr>
        <p:spPr>
          <a:xfrm>
            <a:off x="5176391" y="3409950"/>
            <a:ext cx="212958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06651" y="3819525"/>
            <a:ext cx="458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联系方式：[邮箱]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4276" y="4319588"/>
            <a:ext cx="4486275" cy="809625"/>
          </a:xfrm>
          <a:custGeom>
            <a:avLst/>
            <a:gdLst/>
            <a:ahLst/>
            <a:cxnLst/>
            <a:rect l="l" t="t" r="r" b="b"/>
            <a:pathLst>
              <a:path w="4486275" h="809625">
                <a:moveTo>
                  <a:pt x="76202" y="0"/>
                </a:moveTo>
                <a:lnTo>
                  <a:pt x="4410073" y="0"/>
                </a:lnTo>
                <a:cubicBezTo>
                  <a:pt x="4452158" y="0"/>
                  <a:pt x="4486275" y="34117"/>
                  <a:pt x="4486275" y="76202"/>
                </a:cubicBezTo>
                <a:lnTo>
                  <a:pt x="4486275" y="733423"/>
                </a:lnTo>
                <a:cubicBezTo>
                  <a:pt x="4486275" y="775508"/>
                  <a:pt x="4452158" y="809625"/>
                  <a:pt x="44100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3339" y="447675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论文链接：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https://doi.org/10.1016/j.engappai.2025.112620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73339" y="474345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代码仓库：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[GitHub链接]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31404" y="5438775"/>
            <a:ext cx="852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Gatum Erlangga, Sung-Bae Cho. Causally explainable artificial intelligence on deep learning model for energy demand prediction.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31404" y="5629275"/>
            <a:ext cx="852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Engineering Applications of Artificial Intelligence, 162 (2025) 112620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Causally Explainable AI on Deep Learning Model for Energy Demand Prediction</dc:title>
  <dc:subject>Causally Explainable AI on Deep Learning Model for Energy Demand Prediction</dc:subject>
  <dc:creator>Kimi</dc:creator>
  <cp:lastModifiedBy>Kimi</cp:lastModifiedBy>
  <cp:revision>1</cp:revision>
  <dcterms:created xsi:type="dcterms:W3CDTF">2026-02-07T04:54:34Z</dcterms:created>
  <dcterms:modified xsi:type="dcterms:W3CDTF">2026-02-07T04:54:34Z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{"Label":"Causally Explainable AI on Deep Learning Model for Energy Demand Prediction","ContentProducer":"001191110108MACG2KBH8F10000","ProduceID":"19c2da40-f152-8e3f-8000-00003cb494ee","ReservedCode1":"","ContentPropagator":"001191110108MACG2KBH8F20000","PropagateID":"19c2da40-f152-8e3f-8000-00003cb494ee","ReservedCode2":""}</vt:lpwstr>
  </property>
</Properties>
</file>